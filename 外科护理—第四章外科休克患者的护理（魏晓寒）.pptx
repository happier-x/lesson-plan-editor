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6" r:id="rId4"/>
  </p:sldMasterIdLst>
  <p:notesMasterIdLst>
    <p:notesMasterId r:id="rId43"/>
  </p:notesMasterIdLst>
  <p:sldIdLst>
    <p:sldId id="306" r:id="rId5"/>
    <p:sldId id="390" r:id="rId6"/>
    <p:sldId id="352" r:id="rId7"/>
    <p:sldId id="355" r:id="rId8"/>
    <p:sldId id="359" r:id="rId9"/>
    <p:sldId id="362" r:id="rId10"/>
    <p:sldId id="361" r:id="rId11"/>
    <p:sldId id="356" r:id="rId12"/>
    <p:sldId id="363" r:id="rId13"/>
    <p:sldId id="317" r:id="rId14"/>
    <p:sldId id="365" r:id="rId15"/>
    <p:sldId id="366" r:id="rId16"/>
    <p:sldId id="367" r:id="rId17"/>
    <p:sldId id="357" r:id="rId18"/>
    <p:sldId id="368" r:id="rId19"/>
    <p:sldId id="358" r:id="rId20"/>
    <p:sldId id="371" r:id="rId21"/>
    <p:sldId id="372" r:id="rId22"/>
    <p:sldId id="373" r:id="rId23"/>
    <p:sldId id="374" r:id="rId24"/>
    <p:sldId id="376" r:id="rId25"/>
    <p:sldId id="377" r:id="rId26"/>
    <p:sldId id="378" r:id="rId27"/>
    <p:sldId id="379" r:id="rId28"/>
    <p:sldId id="380" r:id="rId29"/>
    <p:sldId id="381" r:id="rId30"/>
    <p:sldId id="383" r:id="rId31"/>
    <p:sldId id="382" r:id="rId32"/>
    <p:sldId id="384" r:id="rId33"/>
    <p:sldId id="385" r:id="rId34"/>
    <p:sldId id="387" r:id="rId35"/>
    <p:sldId id="386" r:id="rId36"/>
    <p:sldId id="388" r:id="rId37"/>
    <p:sldId id="389" r:id="rId38"/>
    <p:sldId id="348" r:id="rId39"/>
    <p:sldId id="427" r:id="rId40"/>
    <p:sldId id="428" r:id="rId41"/>
    <p:sldId id="426" r:id="rId4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B3773B"/>
    <a:srgbClr val="996633"/>
    <a:srgbClr val="FF89E0"/>
    <a:srgbClr val="FF33CC"/>
    <a:srgbClr val="FF0000"/>
    <a:srgbClr val="692AA2"/>
    <a:srgbClr val="BC7D3E"/>
    <a:srgbClr val="6969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778" y="72"/>
      </p:cViewPr>
      <p:guideLst>
        <p:guide orient="horz" pos="2138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13F69EB-13EB-4015-9503-E630DCD6029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436" name="幻灯片图像占位符 3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9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484313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2188" y="1484313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29000" y="6508750"/>
            <a:ext cx="2133600" cy="3079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29000" y="6508750"/>
            <a:ext cx="2133600" cy="3079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23075" y="333375"/>
            <a:ext cx="2070100" cy="61039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333375"/>
            <a:ext cx="6059487" cy="61039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85800" y="3197225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73025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0825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85800" y="3143250"/>
            <a:ext cx="77724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1">
              <a:rPr lang="en-US" altLang="zh-CN" dirty="0"/>
            </a:fld>
            <a:endParaRPr lang="en-US" altLang="zh-CN" dirty="0"/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786063" y="1054100"/>
            <a:ext cx="5903913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 vert="horz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50000"/>
              <a:buFont typeface="Wingdings 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1288"/>
            <a:ext cx="82296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五级</a:t>
            </a:r>
            <a:endParaRPr kumimoji="0" 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p>
            <a:pPr eaLnBrk="1" hangingPunct="1">
              <a:buNone/>
            </a:pPr>
            <a:fld id="{BB962C8B-B14F-4D97-AF65-F5344CB8AC3E}" type="datetimeFigureOut">
              <a:rPr lang="en-US" altLang="zh-CN" dirty="0"/>
            </a:fld>
            <a:endParaRPr lang="en-US" altLang="zh-CN" dirty="0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</p:spPr>
        <p:txBody>
          <a:bodyPr vert="horz" lIns="45720" rIns="45720" rtlCol="0" anchor="ctr"/>
          <a:p>
            <a:pPr algn="ctr" eaLnBrk="1" hangingPunct="1">
              <a:buNone/>
            </a:pPr>
            <a:fld id="{9A0DB2DC-4C9A-4742-B13C-FB6460FD3503}" type="slidenum">
              <a:rPr lang="zh-CN" altLang="en-US" dirty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5.jpeg"/><Relationship Id="rId18" Type="http://schemas.openxmlformats.org/officeDocument/2006/relationships/image" Target="../media/image4.png"/><Relationship Id="rId17" Type="http://schemas.openxmlformats.org/officeDocument/2006/relationships/image" Target="../media/image3.png"/><Relationship Id="rId16" Type="http://schemas.openxmlformats.org/officeDocument/2006/relationships/image" Target="../media/image2.png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Oval 4"/>
          <p:cNvSpPr/>
          <p:nvPr userDrawn="1"/>
        </p:nvSpPr>
        <p:spPr>
          <a:xfrm>
            <a:off x="7885113" y="1873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Oval 5"/>
          <p:cNvSpPr/>
          <p:nvPr userDrawn="1"/>
        </p:nvSpPr>
        <p:spPr>
          <a:xfrm>
            <a:off x="8316913" y="1873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Oval 6"/>
          <p:cNvSpPr/>
          <p:nvPr userDrawn="1"/>
        </p:nvSpPr>
        <p:spPr>
          <a:xfrm>
            <a:off x="8748713" y="1873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Oval 7"/>
          <p:cNvSpPr/>
          <p:nvPr userDrawn="1"/>
        </p:nvSpPr>
        <p:spPr>
          <a:xfrm>
            <a:off x="7885113" y="6191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Oval 8"/>
          <p:cNvSpPr/>
          <p:nvPr userDrawn="1"/>
        </p:nvSpPr>
        <p:spPr>
          <a:xfrm>
            <a:off x="8316913" y="6191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Oval 9"/>
          <p:cNvSpPr/>
          <p:nvPr userDrawn="1"/>
        </p:nvSpPr>
        <p:spPr>
          <a:xfrm>
            <a:off x="8748713" y="6191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Oval 10"/>
          <p:cNvSpPr/>
          <p:nvPr userDrawn="1"/>
        </p:nvSpPr>
        <p:spPr>
          <a:xfrm>
            <a:off x="7885113" y="10509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Oval 11"/>
          <p:cNvSpPr/>
          <p:nvPr userDrawn="1"/>
        </p:nvSpPr>
        <p:spPr>
          <a:xfrm>
            <a:off x="8316913" y="10509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" name="Oval 12"/>
          <p:cNvSpPr/>
          <p:nvPr userDrawn="1"/>
        </p:nvSpPr>
        <p:spPr>
          <a:xfrm>
            <a:off x="8748713" y="10509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Oval 13"/>
          <p:cNvSpPr/>
          <p:nvPr userDrawn="1"/>
        </p:nvSpPr>
        <p:spPr>
          <a:xfrm>
            <a:off x="7885113" y="14827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6" name="Oval 14"/>
          <p:cNvSpPr/>
          <p:nvPr userDrawn="1"/>
        </p:nvSpPr>
        <p:spPr>
          <a:xfrm>
            <a:off x="8316913" y="14827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7" name="Oval 15"/>
          <p:cNvSpPr/>
          <p:nvPr userDrawn="1"/>
        </p:nvSpPr>
        <p:spPr>
          <a:xfrm>
            <a:off x="8748713" y="14827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8" name="Oval 16"/>
          <p:cNvSpPr/>
          <p:nvPr userDrawn="1"/>
        </p:nvSpPr>
        <p:spPr>
          <a:xfrm>
            <a:off x="7885113" y="19177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9" name="Oval 17"/>
          <p:cNvSpPr/>
          <p:nvPr userDrawn="1"/>
        </p:nvSpPr>
        <p:spPr>
          <a:xfrm>
            <a:off x="8316913" y="19177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0" name="Oval 18"/>
          <p:cNvSpPr/>
          <p:nvPr userDrawn="1"/>
        </p:nvSpPr>
        <p:spPr>
          <a:xfrm>
            <a:off x="8748713" y="19177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1" name="Oval 19"/>
          <p:cNvSpPr/>
          <p:nvPr userDrawn="1"/>
        </p:nvSpPr>
        <p:spPr>
          <a:xfrm>
            <a:off x="7885113" y="2349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2" name="Oval 20"/>
          <p:cNvSpPr/>
          <p:nvPr userDrawn="1"/>
        </p:nvSpPr>
        <p:spPr>
          <a:xfrm>
            <a:off x="8316913" y="2349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3" name="Oval 21"/>
          <p:cNvSpPr/>
          <p:nvPr userDrawn="1"/>
        </p:nvSpPr>
        <p:spPr>
          <a:xfrm>
            <a:off x="8748713" y="2349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4" name="Oval 22"/>
          <p:cNvSpPr/>
          <p:nvPr userDrawn="1"/>
        </p:nvSpPr>
        <p:spPr>
          <a:xfrm>
            <a:off x="7885113" y="27797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5" name="Oval 23"/>
          <p:cNvSpPr/>
          <p:nvPr userDrawn="1"/>
        </p:nvSpPr>
        <p:spPr>
          <a:xfrm>
            <a:off x="8316913" y="27797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6" name="Oval 24"/>
          <p:cNvSpPr/>
          <p:nvPr userDrawn="1"/>
        </p:nvSpPr>
        <p:spPr>
          <a:xfrm>
            <a:off x="8748713" y="27797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7" name="Oval 25"/>
          <p:cNvSpPr/>
          <p:nvPr userDrawn="1"/>
        </p:nvSpPr>
        <p:spPr>
          <a:xfrm>
            <a:off x="7885113" y="32131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8" name="Oval 26"/>
          <p:cNvSpPr/>
          <p:nvPr userDrawn="1"/>
        </p:nvSpPr>
        <p:spPr>
          <a:xfrm>
            <a:off x="8316913" y="32131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9" name="Oval 27"/>
          <p:cNvSpPr/>
          <p:nvPr userDrawn="1"/>
        </p:nvSpPr>
        <p:spPr>
          <a:xfrm>
            <a:off x="8748713" y="32131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0" name="Oval 28"/>
          <p:cNvSpPr/>
          <p:nvPr userDrawn="1"/>
        </p:nvSpPr>
        <p:spPr>
          <a:xfrm>
            <a:off x="7885113" y="36449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1" name="Oval 29"/>
          <p:cNvSpPr/>
          <p:nvPr userDrawn="1"/>
        </p:nvSpPr>
        <p:spPr>
          <a:xfrm>
            <a:off x="8316913" y="36449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2" name="Oval 30"/>
          <p:cNvSpPr/>
          <p:nvPr userDrawn="1"/>
        </p:nvSpPr>
        <p:spPr>
          <a:xfrm>
            <a:off x="8748713" y="36449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3" name="Oval 31"/>
          <p:cNvSpPr/>
          <p:nvPr userDrawn="1"/>
        </p:nvSpPr>
        <p:spPr>
          <a:xfrm>
            <a:off x="7091363" y="1873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" name="Oval 32"/>
          <p:cNvSpPr/>
          <p:nvPr userDrawn="1"/>
        </p:nvSpPr>
        <p:spPr>
          <a:xfrm>
            <a:off x="7523163" y="1873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5" name="Oval 33"/>
          <p:cNvSpPr/>
          <p:nvPr userDrawn="1"/>
        </p:nvSpPr>
        <p:spPr>
          <a:xfrm>
            <a:off x="7091363" y="6191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6" name="Oval 34"/>
          <p:cNvSpPr/>
          <p:nvPr userDrawn="1"/>
        </p:nvSpPr>
        <p:spPr>
          <a:xfrm>
            <a:off x="7523163" y="6191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7" name="Oval 35"/>
          <p:cNvSpPr/>
          <p:nvPr userDrawn="1"/>
        </p:nvSpPr>
        <p:spPr>
          <a:xfrm>
            <a:off x="7091363" y="10509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8" name="Oval 36"/>
          <p:cNvSpPr/>
          <p:nvPr userDrawn="1"/>
        </p:nvSpPr>
        <p:spPr>
          <a:xfrm>
            <a:off x="7523163" y="10509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9" name="Oval 37"/>
          <p:cNvSpPr/>
          <p:nvPr userDrawn="1"/>
        </p:nvSpPr>
        <p:spPr>
          <a:xfrm>
            <a:off x="7091363" y="14827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0" name="Oval 38"/>
          <p:cNvSpPr/>
          <p:nvPr userDrawn="1"/>
        </p:nvSpPr>
        <p:spPr>
          <a:xfrm>
            <a:off x="7523163" y="14827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1" name="Oval 39"/>
          <p:cNvSpPr/>
          <p:nvPr userDrawn="1"/>
        </p:nvSpPr>
        <p:spPr>
          <a:xfrm>
            <a:off x="7091363" y="19177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2" name="Oval 40"/>
          <p:cNvSpPr/>
          <p:nvPr userDrawn="1"/>
        </p:nvSpPr>
        <p:spPr>
          <a:xfrm>
            <a:off x="7523163" y="19177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3" name="Oval 41"/>
          <p:cNvSpPr/>
          <p:nvPr userDrawn="1"/>
        </p:nvSpPr>
        <p:spPr>
          <a:xfrm>
            <a:off x="7091363" y="2349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4" name="Oval 42"/>
          <p:cNvSpPr/>
          <p:nvPr userDrawn="1"/>
        </p:nvSpPr>
        <p:spPr>
          <a:xfrm>
            <a:off x="7523163" y="2349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5" name="Oval 43"/>
          <p:cNvSpPr/>
          <p:nvPr userDrawn="1"/>
        </p:nvSpPr>
        <p:spPr>
          <a:xfrm>
            <a:off x="7091363" y="27797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6" name="Oval 44"/>
          <p:cNvSpPr/>
          <p:nvPr userDrawn="1"/>
        </p:nvSpPr>
        <p:spPr>
          <a:xfrm>
            <a:off x="7523163" y="27797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7" name="Oval 45"/>
          <p:cNvSpPr/>
          <p:nvPr userDrawn="1"/>
        </p:nvSpPr>
        <p:spPr>
          <a:xfrm>
            <a:off x="7091363" y="32131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8" name="Oval 46"/>
          <p:cNvSpPr/>
          <p:nvPr userDrawn="1"/>
        </p:nvSpPr>
        <p:spPr>
          <a:xfrm>
            <a:off x="7523163" y="32131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9" name="Oval 47"/>
          <p:cNvSpPr/>
          <p:nvPr userDrawn="1"/>
        </p:nvSpPr>
        <p:spPr>
          <a:xfrm>
            <a:off x="7091363" y="36449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70" name="Oval 48"/>
          <p:cNvSpPr/>
          <p:nvPr userDrawn="1"/>
        </p:nvSpPr>
        <p:spPr>
          <a:xfrm>
            <a:off x="7523163" y="36449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pPr lvl="0"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71" name="Picture 47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0"/>
            <a:ext cx="9144000" cy="17002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2" name="Picture 48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1700213"/>
            <a:ext cx="9144000" cy="1443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3" name="Picture 49" descr="图片1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3068638"/>
            <a:ext cx="1752600" cy="2570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4" name="Picture 50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752600" y="3068638"/>
            <a:ext cx="7391400" cy="2587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5" name="Picture 51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5562600"/>
            <a:ext cx="9144000" cy="1295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5"/>
          <p:cNvSpPr>
            <a:spLocks noGrp="1"/>
          </p:cNvSpPr>
          <p:nvPr>
            <p:ph type="body" idx="1"/>
          </p:nvPr>
        </p:nvSpPr>
        <p:spPr>
          <a:xfrm>
            <a:off x="611188" y="1484313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29000" y="6508750"/>
            <a:ext cx="2133600" cy="307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2" name="Text Box 8"/>
          <p:cNvSpPr txBox="1"/>
          <p:nvPr userDrawn="1"/>
        </p:nvSpPr>
        <p:spPr>
          <a:xfrm rot="-5400000">
            <a:off x="-476250" y="5954713"/>
            <a:ext cx="1379538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eaLnBrk="1" hangingPunct="1"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Company Logo  </a:t>
            </a:r>
            <a:endParaRPr lang="en-US" altLang="zh-CN" sz="12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7"/>
          <p:cNvSpPr>
            <a:spLocks noGrp="1"/>
          </p:cNvSpPr>
          <p:nvPr>
            <p:ph type="title"/>
          </p:nvPr>
        </p:nvSpPr>
        <p:spPr>
          <a:xfrm>
            <a:off x="1619250" y="333375"/>
            <a:ext cx="7273925" cy="7207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0" y="6678613"/>
            <a:ext cx="9144000" cy="1793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5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6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4163"/>
          </a:xfrm>
          <a:prstGeom prst="rect">
            <a:avLst/>
          </a:prstGeom>
        </p:spPr>
        <p:txBody>
          <a:bodyPr vert="horz" rtlCol="0" anchor="b"/>
          <a:lstStyle>
            <a:lvl1pPr>
              <a:defRPr sz="1100">
                <a:solidFill>
                  <a:srgbClr val="636363"/>
                </a:solidFill>
              </a:defRPr>
            </a:lvl1pPr>
          </a:lstStyle>
          <a:p>
            <a:pPr lvl="0" eaLnBrk="1" hangingPunct="1">
              <a:buNone/>
            </a:pPr>
            <a:fld id="{BB962C8B-B14F-4D97-AF65-F5344CB8AC3E}" type="datetime1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4163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4163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>
              <a:defRPr sz="1100">
                <a:solidFill>
                  <a:srgbClr val="636363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81" name="Text Box 8"/>
          <p:cNvSpPr txBox="1"/>
          <p:nvPr userDrawn="1"/>
        </p:nvSpPr>
        <p:spPr>
          <a:xfrm rot="-5400000">
            <a:off x="-476250" y="5954713"/>
            <a:ext cx="1379538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lvl="0" eaLnBrk="1" hangingPunct="1">
              <a:buNone/>
            </a:pPr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Company Logo  </a:t>
            </a:r>
            <a:endParaRPr lang="en-US" altLang="zh-CN" sz="12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subTitle" idx="4294967295"/>
          </p:nvPr>
        </p:nvSpPr>
        <p:spPr>
          <a:xfrm>
            <a:off x="971550" y="1700213"/>
            <a:ext cx="7488238" cy="865187"/>
          </a:xfrm>
          <a:ln/>
        </p:spPr>
        <p:txBody>
          <a:bodyPr vert="horz" wrap="square" anchor="t" anchorCtr="0"/>
          <a:lstStyle>
            <a:lvl1pPr marL="0" lvl="0" indent="0" algn="ctr">
              <a:buClr>
                <a:schemeClr val="tx2"/>
              </a:buClr>
              <a:buSzPct val="50000"/>
              <a:buFont typeface="Wingdings 2" pitchFamily="18" charset="2"/>
              <a:buNone/>
              <a:defRPr/>
            </a:lvl1pPr>
            <a:lvl2pPr marL="457200" lvl="1" indent="0" algn="ctr">
              <a:buClr>
                <a:schemeClr val="tx2"/>
              </a:buClr>
              <a:buSzPct val="50000"/>
              <a:buFont typeface="Wingdings 2" pitchFamily="18" charset="2"/>
              <a:buNone/>
              <a:defRPr/>
            </a:lvl2pPr>
            <a:lvl3pPr marL="914400" lvl="2" indent="0" algn="ctr">
              <a:buClr>
                <a:schemeClr val="tx2"/>
              </a:buClr>
              <a:buSzPct val="50000"/>
              <a:buFont typeface="Wingdings 2" pitchFamily="18" charset="2"/>
              <a:buNone/>
              <a:defRPr/>
            </a:lvl3pPr>
            <a:lvl4pPr marL="1371600" lvl="3" indent="0" algn="ctr">
              <a:buClr>
                <a:schemeClr val="tx2"/>
              </a:buClr>
              <a:buSzPct val="50000"/>
              <a:buFont typeface="Wingdings 2" pitchFamily="18" charset="2"/>
              <a:buNone/>
              <a:defRPr/>
            </a:lvl4pPr>
            <a:lvl5pPr marL="1828800" lvl="4" indent="0" algn="ctr">
              <a:buClr>
                <a:schemeClr val="tx2"/>
              </a:buClr>
              <a:buSzPct val="50000"/>
              <a:buFont typeface="Wingdings 2" pitchFamily="18" charset="2"/>
              <a:buNone/>
              <a:defRPr/>
            </a:lvl5pPr>
          </a:lstStyle>
          <a:p>
            <a:pPr lvl="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rPr>
              <a:t>第四章 外科休克病人的护理</a:t>
            </a:r>
            <a:endParaRPr lang="zh-CN" altLang="en-US" sz="4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482" name="Group 2"/>
          <p:cNvGrpSpPr/>
          <p:nvPr/>
        </p:nvGrpSpPr>
        <p:grpSpPr>
          <a:xfrm>
            <a:off x="928688" y="1928813"/>
            <a:ext cx="7345362" cy="3944937"/>
            <a:chOff x="0" y="0"/>
            <a:chExt cx="4627" cy="2949"/>
          </a:xfrm>
        </p:grpSpPr>
        <p:grpSp>
          <p:nvGrpSpPr>
            <p:cNvPr id="20484" name="Group 3"/>
            <p:cNvGrpSpPr/>
            <p:nvPr/>
          </p:nvGrpSpPr>
          <p:grpSpPr>
            <a:xfrm>
              <a:off x="0" y="0"/>
              <a:ext cx="2223" cy="2949"/>
              <a:chOff x="0" y="0"/>
              <a:chExt cx="2223" cy="2949"/>
            </a:xfrm>
          </p:grpSpPr>
          <p:sp>
            <p:nvSpPr>
              <p:cNvPr id="20488" name="AutoShape 4"/>
              <p:cNvSpPr/>
              <p:nvPr/>
            </p:nvSpPr>
            <p:spPr>
              <a:xfrm>
                <a:off x="0" y="0"/>
                <a:ext cx="2223" cy="2949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B89A88"/>
                  </a:gs>
                  <a:gs pos="100000">
                    <a:srgbClr val="55473F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ts val="120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3600" b="1" dirty="0">
                    <a:latin typeface="Arial" panose="020B0604020202020204" pitchFamily="34" charset="0"/>
                    <a:ea typeface="DFKai-SB" pitchFamily="65" charset="-120"/>
                  </a:rPr>
                  <a:t>重点</a:t>
                </a:r>
                <a:endParaRPr lang="zh-CN" altLang="en-US" sz="3600" b="1" dirty="0">
                  <a:latin typeface="Arial" panose="020B0604020202020204" pitchFamily="34" charset="0"/>
                  <a:ea typeface="DFKai-SB" pitchFamily="65" charset="-120"/>
                </a:endParaRPr>
              </a:p>
            </p:txBody>
          </p:sp>
          <p:sp>
            <p:nvSpPr>
              <p:cNvPr id="20489" name="Rectangle 5"/>
              <p:cNvSpPr/>
              <p:nvPr/>
            </p:nvSpPr>
            <p:spPr>
              <a:xfrm>
                <a:off x="138" y="595"/>
                <a:ext cx="1950" cy="2025"/>
              </a:xfrm>
              <a:prstGeom prst="rect">
                <a:avLst/>
              </a:prstGeom>
              <a:solidFill>
                <a:srgbClr val="F7D6C1"/>
              </a:solidFill>
              <a:ln w="9525">
                <a:noFill/>
              </a:ln>
              <a:effectLst>
                <a:prstShdw prst="shdw17" dist="17961" dir="13499999">
                  <a:srgbClr val="948074"/>
                </a:prstShdw>
              </a:effectLst>
            </p:spPr>
            <p:txBody>
              <a:bodyPr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ts val="60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外科休克病人的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①护理评估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②护理措施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③急救护理原则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85" name="Group 8"/>
            <p:cNvGrpSpPr/>
            <p:nvPr/>
          </p:nvGrpSpPr>
          <p:grpSpPr>
            <a:xfrm>
              <a:off x="2404" y="0"/>
              <a:ext cx="2223" cy="2949"/>
              <a:chOff x="0" y="0"/>
              <a:chExt cx="2223" cy="2949"/>
            </a:xfrm>
          </p:grpSpPr>
          <p:sp>
            <p:nvSpPr>
              <p:cNvPr id="20486" name="AutoShape 9"/>
              <p:cNvSpPr/>
              <p:nvPr/>
            </p:nvSpPr>
            <p:spPr>
              <a:xfrm>
                <a:off x="0" y="0"/>
                <a:ext cx="2223" cy="2949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88B888"/>
                  </a:gs>
                  <a:gs pos="100000">
                    <a:srgbClr val="3F553F"/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3600" b="1" dirty="0">
                    <a:latin typeface="Arial" panose="020B0604020202020204" pitchFamily="34" charset="0"/>
                    <a:ea typeface="DFKai-SB" pitchFamily="65" charset="-120"/>
                  </a:rPr>
                  <a:t>难点</a:t>
                </a:r>
                <a:endParaRPr lang="zh-CN" altLang="en-US" sz="3600" b="1" dirty="0">
                  <a:latin typeface="Arial" panose="020B0604020202020204" pitchFamily="34" charset="0"/>
                  <a:ea typeface="DFKai-SB" pitchFamily="65" charset="-120"/>
                </a:endParaRPr>
              </a:p>
            </p:txBody>
          </p:sp>
          <p:sp>
            <p:nvSpPr>
              <p:cNvPr id="20487" name="Rectangle 12"/>
              <p:cNvSpPr/>
              <p:nvPr/>
            </p:nvSpPr>
            <p:spPr>
              <a:xfrm>
                <a:off x="137" y="590"/>
                <a:ext cx="1950" cy="2027"/>
              </a:xfrm>
              <a:prstGeom prst="rect">
                <a:avLst/>
              </a:prstGeom>
              <a:solidFill>
                <a:srgbClr val="C1F7C1"/>
              </a:solidFill>
              <a:ln w="9525">
                <a:noFill/>
              </a:ln>
              <a:effectLst>
                <a:prstShdw prst="shdw17" dist="17961" dir="13499999">
                  <a:srgbClr val="749474"/>
                </a:prstShdw>
              </a:effectLst>
            </p:spPr>
            <p:txBody>
              <a:bodyPr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ts val="60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en-US" altLang="zh-CN" sz="8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不同时期休克病人的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①身体状况评估</a:t>
                </a:r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②护理措施</a:t>
                </a:r>
                <a:endParaRPr lang="ja-JP" altLang="en-US" sz="2400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8013" y="333375"/>
            <a:ext cx="8535988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重点难点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8013" y="333375"/>
            <a:ext cx="8535988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小组讨论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1507" name="圆角矩形 5"/>
          <p:cNvSpPr/>
          <p:nvPr/>
        </p:nvSpPr>
        <p:spPr>
          <a:xfrm>
            <a:off x="638175" y="1484313"/>
            <a:ext cx="8286750" cy="4786312"/>
          </a:xfrm>
          <a:prstGeom prst="roundRect">
            <a:avLst>
              <a:gd name="adj" fmla="val 16667"/>
            </a:avLst>
          </a:prstGeom>
          <a:solidFill>
            <a:srgbClr val="FFDD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患者李某，男，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45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岁，建筑工人，因“高处坠落致腹部撞击伤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小时”急诊入院。入院时意识模糊，面色苍白，四肢湿冷，呼吸急促（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28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次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分），血压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85/50mmHg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，心率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120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次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分，尿量仅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15ml/h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。查体发现腹部膨隆，移动性浊音阳性，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超提示腹腔大量积液，诊断为“脾破裂合并失血性休克”。小组讨论：</a:t>
            </a:r>
            <a:endParaRPr lang="zh-CN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1.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该病人可能出现了什么问题？</a:t>
            </a:r>
            <a:endParaRPr lang="zh-CN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0" indent="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2.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如何快速判断患者处于休克状态？</a:t>
            </a:r>
            <a:endParaRPr lang="zh-CN" altLang="zh-CN" sz="1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AutoShape 2" descr="좁은 수평선"/>
          <p:cNvSpPr/>
          <p:nvPr/>
        </p:nvSpPr>
        <p:spPr>
          <a:xfrm>
            <a:off x="1731963" y="16748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1"/>
          </a:blipFill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AutoShape 3"/>
          <p:cNvSpPr/>
          <p:nvPr/>
        </p:nvSpPr>
        <p:spPr>
          <a:xfrm>
            <a:off x="1830388" y="176053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008B45"/>
          </a:solidFill>
          <a:ln w="38100" cap="flat" cmpd="sng">
            <a:solidFill>
              <a:srgbClr val="13131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AutoShape 4" descr="좁은 수평선"/>
          <p:cNvSpPr/>
          <p:nvPr/>
        </p:nvSpPr>
        <p:spPr>
          <a:xfrm>
            <a:off x="1741488" y="26844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AutoShape 5"/>
          <p:cNvSpPr/>
          <p:nvPr/>
        </p:nvSpPr>
        <p:spPr>
          <a:xfrm>
            <a:off x="1839913" y="277018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B3773B"/>
          </a:soli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AutoShape 6" descr="좁은 수평선"/>
          <p:cNvSpPr/>
          <p:nvPr/>
        </p:nvSpPr>
        <p:spPr>
          <a:xfrm>
            <a:off x="1751013" y="36941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AutoShape 7"/>
          <p:cNvSpPr/>
          <p:nvPr/>
        </p:nvSpPr>
        <p:spPr>
          <a:xfrm>
            <a:off x="1849438" y="377983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02C4DE"/>
              </a:gs>
              <a:gs pos="100000">
                <a:srgbClr val="015B67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AutoShape 8" descr="좁은 수평선"/>
          <p:cNvSpPr/>
          <p:nvPr/>
        </p:nvSpPr>
        <p:spPr>
          <a:xfrm>
            <a:off x="1746250" y="47037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AutoShape 9"/>
          <p:cNvSpPr/>
          <p:nvPr/>
        </p:nvSpPr>
        <p:spPr>
          <a:xfrm>
            <a:off x="1844675" y="478948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99FF"/>
              </a:gs>
              <a:gs pos="100000">
                <a:srgbClr val="184776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2286000" y="1879600"/>
            <a:ext cx="4230688" cy="40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1.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概念及病理生理 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2286000" y="2876550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B3773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2.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B3773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护理评估</a:t>
            </a:r>
            <a:endParaRPr kumimoji="0" lang="ko-KR" altLang="en-US" sz="3500" b="1" i="0" u="none" strike="noStrike" kern="1200" cap="none" spc="0" normalizeH="0" baseline="0" noProof="0">
              <a:ln>
                <a:noFill/>
              </a:ln>
              <a:solidFill>
                <a:srgbClr val="B3773B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2286000" y="3857625"/>
            <a:ext cx="4373563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3.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常见护理诊断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问题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7386C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2286000" y="4906963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4.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护理措施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3E5F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608013" y="333375"/>
            <a:ext cx="8535988" cy="720725"/>
          </a:xfrm>
          <a:prstGeom prst="rect">
            <a:avLst/>
          </a:prstGeom>
        </p:spPr>
        <p:txBody>
          <a:bodyPr vert="horz" rtlCol="0" anchor="ctr">
            <a:normAutofit fontScale="97500"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课程呈现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title" idx="4294967295"/>
          </p:nvPr>
        </p:nvSpPr>
        <p:spPr>
          <a:xfrm>
            <a:off x="536575" y="333375"/>
            <a:ext cx="8607425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概念及病理生理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3555" name="AutoShape 8"/>
          <p:cNvSpPr/>
          <p:nvPr/>
        </p:nvSpPr>
        <p:spPr>
          <a:xfrm>
            <a:off x="730250" y="1500188"/>
            <a:ext cx="7818438" cy="4714875"/>
          </a:xfrm>
          <a:prstGeom prst="roundRect">
            <a:avLst>
              <a:gd name="adj" fmla="val 12699"/>
            </a:avLst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华文中宋" pitchFamily="2" charset="-122"/>
            </a:endParaRPr>
          </a:p>
        </p:txBody>
      </p:sp>
      <p:sp>
        <p:nvSpPr>
          <p:cNvPr id="23556" name="AutoShape 9"/>
          <p:cNvSpPr/>
          <p:nvPr/>
        </p:nvSpPr>
        <p:spPr>
          <a:xfrm>
            <a:off x="857250" y="2286000"/>
            <a:ext cx="7570788" cy="37861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</a:ln>
          <a:effectLst>
            <a:prstShdw prst="shdw17" dist="17961" dir="13499999">
              <a:srgbClr val="999999"/>
            </a:prstShdw>
          </a:effectLst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400" dirty="0">
              <a:solidFill>
                <a:srgbClr val="FF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华文中宋" pitchFamily="2" charset="-122"/>
            </a:endParaRPr>
          </a:p>
        </p:txBody>
      </p:sp>
      <p:sp>
        <p:nvSpPr>
          <p:cNvPr id="23557" name="AutoShape 4" descr="좁은 수평선"/>
          <p:cNvSpPr/>
          <p:nvPr/>
        </p:nvSpPr>
        <p:spPr>
          <a:xfrm>
            <a:off x="2020888" y="1714500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1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AutoShape 5"/>
          <p:cNvSpPr>
            <a:spLocks noChangeArrowheads="1"/>
          </p:cNvSpPr>
          <p:nvPr/>
        </p:nvSpPr>
        <p:spPr bwMode="auto">
          <a:xfrm>
            <a:off x="2119313" y="1785938"/>
            <a:ext cx="5143500" cy="714375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FFCC00"/>
              </a:gs>
              <a:gs pos="100000">
                <a:srgbClr val="765E00"/>
              </a:gs>
            </a:gsLst>
            <a:lin ang="5400000" scaled="1"/>
          </a:gradFill>
          <a:ln w="38100" cmpd="sng">
            <a:solidFill>
              <a:schemeClr val="bg1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休克的概念</a:t>
            </a:r>
            <a:endParaRPr kumimoji="0" lang="ko-KR" altLang="en-US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3559" name="TextBox 14"/>
          <p:cNvSpPr txBox="1"/>
          <p:nvPr/>
        </p:nvSpPr>
        <p:spPr>
          <a:xfrm>
            <a:off x="1143000" y="2882900"/>
            <a:ext cx="7000875" cy="2832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●休克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：机体受到强烈的致病因素侵袭后，导致</a:t>
            </a:r>
            <a:r>
              <a:rPr lang="zh-CN" altLang="en-US" sz="24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有效循环血量锐减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组织灌注不足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细胞代谢紊乱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4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功能受损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为特点的一种危急临床综合征。</a:t>
            </a:r>
            <a:endParaRPr lang="zh-CN" altLang="en-US" sz="24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●有效循环血量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：指单位时间内通过心血管系统</a:t>
            </a:r>
            <a:r>
              <a:rPr lang="zh-CN" altLang="en-US" sz="24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进行循环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的血量，占全身血容量的</a:t>
            </a:r>
            <a:r>
              <a:rPr lang="en-US" altLang="zh-CN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80%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90%</a:t>
            </a:r>
            <a:r>
              <a:rPr lang="zh-CN" altLang="en-US" sz="24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。其依赖三个因素维持：①充足的血容量；②有效的心搏出量；③适宜的周围血管张力。</a:t>
            </a:r>
            <a:endParaRPr lang="zh-CN" altLang="en-US" sz="24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圆角矩形 40"/>
          <p:cNvSpPr/>
          <p:nvPr/>
        </p:nvSpPr>
        <p:spPr>
          <a:xfrm>
            <a:off x="714375" y="1500188"/>
            <a:ext cx="7715250" cy="4786312"/>
          </a:xfrm>
          <a:prstGeom prst="roundRect">
            <a:avLst>
              <a:gd name="adj" fmla="val 9787"/>
            </a:avLst>
          </a:prstGeom>
          <a:solidFill>
            <a:srgbClr val="E3E8F5"/>
          </a:solidFill>
          <a:ln w="9525" cap="flat" cmpd="sng">
            <a:solidFill>
              <a:srgbClr val="47FFA3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AutoShape 4"/>
          <p:cNvSpPr/>
          <p:nvPr/>
        </p:nvSpPr>
        <p:spPr>
          <a:xfrm>
            <a:off x="5732463" y="2571750"/>
            <a:ext cx="2411412" cy="3500438"/>
          </a:xfrm>
          <a:prstGeom prst="roundRect">
            <a:avLst>
              <a:gd name="adj" fmla="val 7912"/>
            </a:avLst>
          </a:prstGeom>
          <a:solidFill>
            <a:srgbClr val="E3E8F5"/>
          </a:solidFill>
          <a:ln w="9525" cap="flat" cmpd="sng">
            <a:solidFill>
              <a:srgbClr val="FF33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AutoShape 13"/>
          <p:cNvSpPr/>
          <p:nvPr/>
        </p:nvSpPr>
        <p:spPr>
          <a:xfrm>
            <a:off x="981075" y="2571750"/>
            <a:ext cx="3448050" cy="3571875"/>
          </a:xfrm>
          <a:prstGeom prst="roundRect">
            <a:avLst>
              <a:gd name="adj" fmla="val 8014"/>
            </a:avLst>
          </a:prstGeom>
          <a:solidFill>
            <a:srgbClr val="FFFFB6"/>
          </a:solidFill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AutoShape 16"/>
          <p:cNvSpPr/>
          <p:nvPr/>
        </p:nvSpPr>
        <p:spPr>
          <a:xfrm rot="-10793605" flipH="1" flipV="1">
            <a:off x="4484688" y="3573463"/>
            <a:ext cx="1158875" cy="755650"/>
          </a:xfrm>
          <a:prstGeom prst="rightArrow">
            <a:avLst>
              <a:gd name="adj1" fmla="val 46509"/>
              <a:gd name="adj2" fmla="val 42053"/>
            </a:avLst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chemeClr val="accent2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17"/>
          <p:cNvSpPr/>
          <p:nvPr/>
        </p:nvSpPr>
        <p:spPr>
          <a:xfrm>
            <a:off x="5965825" y="3055938"/>
            <a:ext cx="1990725" cy="1016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外科以</a:t>
            </a:r>
            <a:r>
              <a:rPr lang="zh-CN" altLang="en-US" sz="20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低血容量</a:t>
            </a:r>
            <a:endParaRPr lang="zh-CN" altLang="en-US" sz="2000" b="1" dirty="0">
              <a:solidFill>
                <a:srgbClr val="FF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性休克</a:t>
            </a:r>
            <a:r>
              <a:rPr lang="zh-CN" altLang="en-US" sz="20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20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感染性</a:t>
            </a:r>
            <a:endParaRPr lang="zh-CN" altLang="en-US" sz="2000" b="1" dirty="0">
              <a:solidFill>
                <a:srgbClr val="FF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休克</a:t>
            </a:r>
            <a:r>
              <a:rPr lang="zh-CN" altLang="en-US" sz="20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最为常见</a:t>
            </a:r>
            <a:endParaRPr lang="zh-CN" altLang="en-US" sz="20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7" name="Rectangle 18"/>
          <p:cNvSpPr>
            <a:spLocks noChangeArrowheads="1"/>
          </p:cNvSpPr>
          <p:nvPr/>
        </p:nvSpPr>
        <p:spPr bwMode="auto">
          <a:xfrm>
            <a:off x="5994400" y="4341813"/>
            <a:ext cx="1990725" cy="13239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大量失血失液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3E5F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严重创伤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导致的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3E5F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休克属于低血容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3E5F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量性休克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3E5F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4584" name="Group 21"/>
          <p:cNvGrpSpPr/>
          <p:nvPr/>
        </p:nvGrpSpPr>
        <p:grpSpPr>
          <a:xfrm>
            <a:off x="5800725" y="3132138"/>
            <a:ext cx="168275" cy="168275"/>
            <a:chOff x="0" y="0"/>
            <a:chExt cx="262" cy="262"/>
          </a:xfrm>
        </p:grpSpPr>
        <p:sp>
          <p:nvSpPr>
            <p:cNvPr id="24604" name="Oval 22"/>
            <p:cNvSpPr/>
            <p:nvPr/>
          </p:nvSpPr>
          <p:spPr>
            <a:xfrm>
              <a:off x="0" y="0"/>
              <a:ext cx="262" cy="262"/>
            </a:xfrm>
            <a:prstGeom prst="ellipse">
              <a:avLst/>
            </a:prstGeom>
            <a:gradFill rotWithShape="1">
              <a:gsLst>
                <a:gs pos="0">
                  <a:srgbClr val="C0C6D3"/>
                </a:gs>
                <a:gs pos="100000">
                  <a:srgbClr val="223864"/>
                </a:gs>
              </a:gsLst>
              <a:lin ang="18900000" scaled="1"/>
              <a:tileRect/>
            </a:gradFill>
            <a:ln w="12700" cap="flat" cmpd="sng">
              <a:solidFill>
                <a:srgbClr val="F8F8F8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5" name="Oval 23"/>
            <p:cNvSpPr/>
            <p:nvPr/>
          </p:nvSpPr>
          <p:spPr>
            <a:xfrm>
              <a:off x="20" y="22"/>
              <a:ext cx="220" cy="218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A5B6E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585" name="Group 24"/>
          <p:cNvGrpSpPr/>
          <p:nvPr/>
        </p:nvGrpSpPr>
        <p:grpSpPr>
          <a:xfrm>
            <a:off x="5800725" y="4422775"/>
            <a:ext cx="168275" cy="168275"/>
            <a:chOff x="0" y="0"/>
            <a:chExt cx="262" cy="262"/>
          </a:xfrm>
        </p:grpSpPr>
        <p:sp>
          <p:nvSpPr>
            <p:cNvPr id="24602" name="Oval 25"/>
            <p:cNvSpPr/>
            <p:nvPr/>
          </p:nvSpPr>
          <p:spPr>
            <a:xfrm>
              <a:off x="0" y="0"/>
              <a:ext cx="262" cy="262"/>
            </a:xfrm>
            <a:prstGeom prst="ellipse">
              <a:avLst/>
            </a:prstGeom>
            <a:gradFill rotWithShape="1">
              <a:gsLst>
                <a:gs pos="0">
                  <a:srgbClr val="C0C6D3"/>
                </a:gs>
                <a:gs pos="100000">
                  <a:srgbClr val="223864"/>
                </a:gs>
              </a:gsLst>
              <a:lin ang="18900000" scaled="1"/>
              <a:tileRect/>
            </a:gradFill>
            <a:ln w="12700" cap="flat" cmpd="sng">
              <a:solidFill>
                <a:srgbClr val="F8F8F8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3" name="Oval 26"/>
            <p:cNvSpPr/>
            <p:nvPr/>
          </p:nvSpPr>
          <p:spPr>
            <a:xfrm>
              <a:off x="20" y="22"/>
              <a:ext cx="220" cy="218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A5B6E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586" name="AutoShape 29"/>
          <p:cNvSpPr/>
          <p:nvPr/>
        </p:nvSpPr>
        <p:spPr>
          <a:xfrm>
            <a:off x="1338263" y="3214688"/>
            <a:ext cx="2698750" cy="49688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12700" cap="flat" cmpd="sng">
            <a:solidFill>
              <a:srgbClr val="47FFA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179705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低血容量性休克</a:t>
            </a:r>
            <a:endParaRPr lang="zh-CN" altLang="en-US" sz="2000" b="1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7" name="Rectangle 33"/>
          <p:cNvSpPr/>
          <p:nvPr/>
        </p:nvSpPr>
        <p:spPr>
          <a:xfrm>
            <a:off x="1052513" y="2714625"/>
            <a:ext cx="3262312" cy="425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按病因分为以下五类：</a:t>
            </a:r>
            <a:endParaRPr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8" name="AutoShape 34"/>
          <p:cNvSpPr/>
          <p:nvPr/>
        </p:nvSpPr>
        <p:spPr>
          <a:xfrm rot="10793605" flipV="1">
            <a:off x="4452938" y="4178300"/>
            <a:ext cx="1119187" cy="755650"/>
          </a:xfrm>
          <a:prstGeom prst="rightArrow">
            <a:avLst>
              <a:gd name="adj1" fmla="val 46509"/>
              <a:gd name="adj2" fmla="val 42101"/>
            </a:avLst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53" name="标题 3"/>
          <p:cNvSpPr>
            <a:spLocks noGrp="1"/>
          </p:cNvSpPr>
          <p:nvPr>
            <p:ph type="title" idx="4294967295"/>
          </p:nvPr>
        </p:nvSpPr>
        <p:spPr>
          <a:xfrm>
            <a:off x="536575" y="333375"/>
            <a:ext cx="8607425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概念及病理生理</a:t>
            </a: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4590" name="AutoShape 29"/>
          <p:cNvSpPr/>
          <p:nvPr/>
        </p:nvSpPr>
        <p:spPr>
          <a:xfrm>
            <a:off x="1338263" y="3789363"/>
            <a:ext cx="2698750" cy="496887"/>
          </a:xfrm>
          <a:prstGeom prst="roundRect">
            <a:avLst>
              <a:gd name="adj" fmla="val 50000"/>
            </a:avLst>
          </a:prstGeom>
          <a:solidFill>
            <a:srgbClr val="7DFFBE">
              <a:alpha val="50195"/>
            </a:srgbClr>
          </a:solidFill>
          <a:ln w="12700" cap="flat" cmpd="sng">
            <a:solidFill>
              <a:srgbClr val="47FFA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179705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心源性休克</a:t>
            </a:r>
            <a:endParaRPr lang="zh-CN" altLang="en-US" sz="2000" b="1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1" name="AutoShape 29"/>
          <p:cNvSpPr/>
          <p:nvPr/>
        </p:nvSpPr>
        <p:spPr>
          <a:xfrm>
            <a:off x="1338263" y="4357688"/>
            <a:ext cx="2698750" cy="496887"/>
          </a:xfrm>
          <a:prstGeom prst="roundRect">
            <a:avLst>
              <a:gd name="adj" fmla="val 50000"/>
            </a:avLst>
          </a:prstGeom>
          <a:solidFill>
            <a:srgbClr val="7DFFBE">
              <a:alpha val="50195"/>
            </a:srgbClr>
          </a:solidFill>
          <a:ln w="12700" cap="flat" cmpd="sng">
            <a:solidFill>
              <a:srgbClr val="47FFA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179705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神经源性休克</a:t>
            </a:r>
            <a:endParaRPr lang="zh-CN" altLang="en-US" sz="2000" b="1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2" name="AutoShape 29"/>
          <p:cNvSpPr/>
          <p:nvPr/>
        </p:nvSpPr>
        <p:spPr>
          <a:xfrm>
            <a:off x="1338263" y="4932363"/>
            <a:ext cx="2698750" cy="496887"/>
          </a:xfrm>
          <a:prstGeom prst="roundRect">
            <a:avLst>
              <a:gd name="adj" fmla="val 50000"/>
            </a:avLst>
          </a:prstGeom>
          <a:solidFill>
            <a:srgbClr val="7DFFBE">
              <a:alpha val="50195"/>
            </a:srgbClr>
          </a:solidFill>
          <a:ln w="12700" cap="flat" cmpd="sng">
            <a:solidFill>
              <a:srgbClr val="47FFA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179705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过敏性休克</a:t>
            </a:r>
            <a:endParaRPr lang="zh-CN" altLang="en-US" sz="2000" b="1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3" name="AutoShape 29"/>
          <p:cNvSpPr/>
          <p:nvPr/>
        </p:nvSpPr>
        <p:spPr>
          <a:xfrm>
            <a:off x="1338263" y="5503863"/>
            <a:ext cx="2698750" cy="496887"/>
          </a:xfrm>
          <a:prstGeom prst="roundRect">
            <a:avLst>
              <a:gd name="adj" fmla="val 50000"/>
            </a:avLst>
          </a:prstGeom>
          <a:solidFill>
            <a:schemeClr val="accent2">
              <a:alpha val="50195"/>
            </a:schemeClr>
          </a:solidFill>
          <a:ln w="12700" cap="flat" cmpd="sng">
            <a:solidFill>
              <a:srgbClr val="47FFA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179705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感染性休克</a:t>
            </a:r>
            <a:endParaRPr lang="zh-CN" altLang="en-US" sz="2000" b="1" dirty="0">
              <a:solidFill>
                <a:srgbClr val="FF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4594" name="Group 5"/>
          <p:cNvGrpSpPr/>
          <p:nvPr/>
        </p:nvGrpSpPr>
        <p:grpSpPr>
          <a:xfrm>
            <a:off x="2214563" y="1643063"/>
            <a:ext cx="4929187" cy="714375"/>
            <a:chOff x="0" y="0"/>
            <a:chExt cx="1321" cy="294"/>
          </a:xfrm>
        </p:grpSpPr>
        <p:sp>
          <p:nvSpPr>
            <p:cNvPr id="10263" name="AutoShape 6"/>
            <p:cNvSpPr>
              <a:spLocks noChangeArrowheads="1"/>
            </p:cNvSpPr>
            <p:nvPr/>
          </p:nvSpPr>
          <p:spPr bwMode="auto">
            <a:xfrm>
              <a:off x="0" y="0"/>
              <a:ext cx="1321" cy="29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rgbClr val="00A251"/>
                </a:gs>
                <a:gs pos="100000">
                  <a:schemeClr val="accent2"/>
                </a:gs>
              </a:gsLst>
              <a:lin ang="0" scaled="1"/>
            </a:gradFill>
            <a:ln w="9525">
              <a:noFill/>
              <a:round/>
            </a:ln>
            <a:effectLst>
              <a:outerShdw dist="53882" dir="2700000" algn="ctr" rotWithShape="0">
                <a:srgbClr val="292929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休克分类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4596" name="AutoShape 7"/>
            <p:cNvGrpSpPr/>
            <p:nvPr/>
          </p:nvGrpSpPr>
          <p:grpSpPr>
            <a:xfrm>
              <a:off x="1253" y="41"/>
              <a:ext cx="64" cy="208"/>
              <a:chOff x="0" y="0"/>
              <a:chExt cx="237744" cy="505968"/>
            </a:xfrm>
          </p:grpSpPr>
          <p:pic>
            <p:nvPicPr>
              <p:cNvPr id="24600" name="AutoShape 7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237744" cy="50596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4601" name="Text Box 26"/>
              <p:cNvSpPr txBox="1"/>
              <p:nvPr/>
            </p:nvSpPr>
            <p:spPr>
              <a:xfrm>
                <a:off x="180646" y="166773"/>
                <a:ext cx="34297" cy="1751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597" name="AutoShape 8"/>
            <p:cNvGrpSpPr/>
            <p:nvPr/>
          </p:nvGrpSpPr>
          <p:grpSpPr>
            <a:xfrm>
              <a:off x="13" y="41"/>
              <a:ext cx="62" cy="208"/>
              <a:chOff x="0" y="0"/>
              <a:chExt cx="231648" cy="505968"/>
            </a:xfrm>
          </p:grpSpPr>
          <p:pic>
            <p:nvPicPr>
              <p:cNvPr id="24598" name="AutoShape 8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231648" cy="50596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4599" name="Text Box 29"/>
              <p:cNvSpPr txBox="1"/>
              <p:nvPr/>
            </p:nvSpPr>
            <p:spPr>
              <a:xfrm>
                <a:off x="19394" y="166773"/>
                <a:ext cx="34297" cy="1751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AutoShape 5"/>
          <p:cNvSpPr/>
          <p:nvPr/>
        </p:nvSpPr>
        <p:spPr>
          <a:xfrm>
            <a:off x="3286125" y="2735263"/>
            <a:ext cx="2500313" cy="3408362"/>
          </a:xfrm>
          <a:prstGeom prst="roundRect">
            <a:avLst>
              <a:gd name="adj" fmla="val 13745"/>
            </a:avLst>
          </a:prstGeom>
          <a:solidFill>
            <a:srgbClr val="BEFFDE">
              <a:alpha val="30980"/>
            </a:srgbClr>
          </a:solidFill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又称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：淤血缺氧期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机制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：毛细血管前括约肌舒张，后括约肌对缺氧耐受力强，处于相对收缩状态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：只进不出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：心、脑器官灌注不足，休克加重而进入抑制期 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3" name="AutoShape 5"/>
          <p:cNvSpPr/>
          <p:nvPr/>
        </p:nvSpPr>
        <p:spPr>
          <a:xfrm>
            <a:off x="6286500" y="2735263"/>
            <a:ext cx="2430463" cy="3408362"/>
          </a:xfrm>
          <a:prstGeom prst="roundRect">
            <a:avLst>
              <a:gd name="adj" fmla="val 13745"/>
            </a:avLst>
          </a:prstGeom>
          <a:solidFill>
            <a:srgbClr val="BEFFDE">
              <a:alpha val="30980"/>
            </a:srgbClr>
          </a:solidFill>
          <a:ln w="381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又称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期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机制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：血液浓缩，且处于高凝状态，容易形成微血栓，甚至引起</a:t>
            </a:r>
            <a:r>
              <a:rPr lang="en-US" altLang="zh-CN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DIC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：不出不进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：组织坏死、器官功能受损，多系统器官功能障碍 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5604" name="Group 3"/>
          <p:cNvGrpSpPr/>
          <p:nvPr/>
        </p:nvGrpSpPr>
        <p:grpSpPr>
          <a:xfrm>
            <a:off x="500063" y="1500188"/>
            <a:ext cx="7929562" cy="4643437"/>
            <a:chOff x="0" y="0"/>
            <a:chExt cx="4298" cy="3978"/>
          </a:xfrm>
        </p:grpSpPr>
        <p:sp>
          <p:nvSpPr>
            <p:cNvPr id="25606" name="AutoShape 5"/>
            <p:cNvSpPr/>
            <p:nvPr/>
          </p:nvSpPr>
          <p:spPr>
            <a:xfrm>
              <a:off x="0" y="1058"/>
              <a:ext cx="1263" cy="2920"/>
            </a:xfrm>
            <a:prstGeom prst="roundRect">
              <a:avLst>
                <a:gd name="adj" fmla="val 13745"/>
              </a:avLst>
            </a:prstGeom>
            <a:solidFill>
              <a:srgbClr val="BEFFDE">
                <a:alpha val="30980"/>
              </a:srgbClr>
            </a:solidFill>
            <a:ln w="38100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又称</a:t>
              </a:r>
              <a:r>
                <a:rPr lang="zh-CN" altLang="en-US" sz="1800" b="1" dirty="0">
                  <a:solidFill>
                    <a:srgbClr val="3E5FB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：缺血缺氧期</a:t>
              </a:r>
              <a:endPara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lvl="0" indent="0"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机制</a:t>
              </a:r>
              <a:r>
                <a:rPr lang="zh-CN" altLang="en-US" sz="1800" b="1" dirty="0">
                  <a:solidFill>
                    <a:srgbClr val="3E5FB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：毛细血管前括约肌收缩，后括约肌相对开放、动静脉间短路开放 </a:t>
              </a:r>
              <a:endPara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lvl="0" indent="0"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特点</a:t>
              </a:r>
              <a:r>
                <a:rPr lang="zh-CN" altLang="en-US" sz="1800" b="1" dirty="0">
                  <a:solidFill>
                    <a:srgbClr val="3E5FB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：只出不进</a:t>
              </a:r>
              <a:endPara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lvl="0" indent="0"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1800" b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结果</a:t>
              </a:r>
              <a:r>
                <a:rPr lang="zh-CN" altLang="en-US" sz="1800" b="1" dirty="0">
                  <a:solidFill>
                    <a:srgbClr val="3E5FB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：保障心、脑等生命器官血液供应</a:t>
              </a:r>
              <a:endParaRPr lang="zh-CN" altLang="en-US" sz="1800" b="1" dirty="0">
                <a:solidFill>
                  <a:srgbClr val="3E5FB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7" name="AutoShape 7"/>
            <p:cNvSpPr/>
            <p:nvPr/>
          </p:nvSpPr>
          <p:spPr>
            <a:xfrm>
              <a:off x="1291" y="393"/>
              <a:ext cx="252" cy="283"/>
            </a:xfrm>
            <a:prstGeom prst="chevron">
              <a:avLst>
                <a:gd name="adj" fmla="val 52513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8" name="AutoShape 8"/>
            <p:cNvSpPr/>
            <p:nvPr/>
          </p:nvSpPr>
          <p:spPr>
            <a:xfrm>
              <a:off x="2842" y="393"/>
              <a:ext cx="251" cy="283"/>
            </a:xfrm>
            <a:prstGeom prst="chevron">
              <a:avLst>
                <a:gd name="adj" fmla="val 52513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Oval 9"/>
            <p:cNvSpPr>
              <a:spLocks noChangeArrowheads="1"/>
            </p:cNvSpPr>
            <p:nvPr/>
          </p:nvSpPr>
          <p:spPr bwMode="auto">
            <a:xfrm>
              <a:off x="3225" y="3"/>
              <a:ext cx="1073" cy="10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0" name="Oval 10"/>
            <p:cNvSpPr/>
            <p:nvPr/>
          </p:nvSpPr>
          <p:spPr>
            <a:xfrm>
              <a:off x="3225" y="3"/>
              <a:ext cx="1073" cy="10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alpha val="31998"/>
                  </a:schemeClr>
                </a:gs>
                <a:gs pos="100000">
                  <a:srgbClr val="000000">
                    <a:alpha val="89998"/>
                  </a:srgb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1"/>
            <p:cNvSpPr>
              <a:spLocks noChangeArrowheads="1"/>
            </p:cNvSpPr>
            <p:nvPr/>
          </p:nvSpPr>
          <p:spPr bwMode="auto">
            <a:xfrm>
              <a:off x="3295" y="73"/>
              <a:ext cx="934" cy="92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2" name="Oval 12"/>
            <p:cNvSpPr/>
            <p:nvPr/>
          </p:nvSpPr>
          <p:spPr>
            <a:xfrm>
              <a:off x="3311" y="78"/>
              <a:ext cx="933" cy="925"/>
            </a:xfrm>
            <a:prstGeom prst="ellipse">
              <a:avLst/>
            </a:prstGeom>
            <a:gradFill rotWithShape="1">
              <a:gsLst>
                <a:gs pos="0">
                  <a:srgbClr val="706D34"/>
                </a:gs>
                <a:gs pos="100000">
                  <a:schemeClr val="hlink">
                    <a:alpha val="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3" name="Oval 13"/>
            <p:cNvSpPr/>
            <p:nvPr/>
          </p:nvSpPr>
          <p:spPr>
            <a:xfrm>
              <a:off x="3345" y="118"/>
              <a:ext cx="841" cy="832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14"/>
            <p:cNvSpPr>
              <a:spLocks noChangeArrowheads="1"/>
            </p:cNvSpPr>
            <p:nvPr/>
          </p:nvSpPr>
          <p:spPr bwMode="auto">
            <a:xfrm>
              <a:off x="122" y="0"/>
              <a:ext cx="1073" cy="1064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rgbClr val="FFFFFF"/>
                </a:gs>
                <a:gs pos="100000">
                  <a:schemeClr val="fol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5" name="Oval 15"/>
            <p:cNvSpPr/>
            <p:nvPr/>
          </p:nvSpPr>
          <p:spPr>
            <a:xfrm>
              <a:off x="122" y="0"/>
              <a:ext cx="1073" cy="1064"/>
            </a:xfrm>
            <a:prstGeom prst="ellipse">
              <a:avLst/>
            </a:prstGeom>
            <a:gradFill rotWithShape="1">
              <a:gsLst>
                <a:gs pos="0">
                  <a:schemeClr val="folHlink">
                    <a:alpha val="31998"/>
                  </a:schemeClr>
                </a:gs>
                <a:gs pos="100000">
                  <a:srgbClr val="000000">
                    <a:alpha val="89998"/>
                  </a:srgb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Oval 16"/>
            <p:cNvSpPr>
              <a:spLocks noChangeArrowheads="1"/>
            </p:cNvSpPr>
            <p:nvPr/>
          </p:nvSpPr>
          <p:spPr bwMode="auto">
            <a:xfrm>
              <a:off x="192" y="69"/>
              <a:ext cx="933" cy="922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50000">
                  <a:srgbClr val="00536E"/>
                </a:gs>
                <a:gs pos="100000">
                  <a:schemeClr val="fol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7" name="Oval 17"/>
            <p:cNvSpPr/>
            <p:nvPr/>
          </p:nvSpPr>
          <p:spPr>
            <a:xfrm>
              <a:off x="193" y="71"/>
              <a:ext cx="934" cy="925"/>
            </a:xfrm>
            <a:prstGeom prst="ellipse">
              <a:avLst/>
            </a:prstGeom>
            <a:gradFill rotWithShape="1">
              <a:gsLst>
                <a:gs pos="0">
                  <a:srgbClr val="006182"/>
                </a:gs>
                <a:gs pos="100000">
                  <a:schemeClr val="folHlink">
                    <a:alpha val="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8" name="Oval 18"/>
            <p:cNvSpPr/>
            <p:nvPr/>
          </p:nvSpPr>
          <p:spPr>
            <a:xfrm>
              <a:off x="239" y="116"/>
              <a:ext cx="840" cy="832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5619" name="Group 19"/>
            <p:cNvGrpSpPr/>
            <p:nvPr/>
          </p:nvGrpSpPr>
          <p:grpSpPr>
            <a:xfrm>
              <a:off x="252" y="128"/>
              <a:ext cx="813" cy="805"/>
              <a:chOff x="0" y="0"/>
              <a:chExt cx="1252" cy="1252"/>
            </a:xfrm>
          </p:grpSpPr>
          <p:sp>
            <p:nvSpPr>
              <p:cNvPr id="25638" name="Oval 20"/>
              <p:cNvSpPr/>
              <p:nvPr/>
            </p:nvSpPr>
            <p:spPr>
              <a:xfrm>
                <a:off x="0" y="0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9" name="Oval 21"/>
              <p:cNvSpPr/>
              <p:nvPr/>
            </p:nvSpPr>
            <p:spPr>
              <a:xfrm>
                <a:off x="16" y="7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40" name="Oval 22"/>
              <p:cNvSpPr/>
              <p:nvPr/>
            </p:nvSpPr>
            <p:spPr>
              <a:xfrm>
                <a:off x="29" y="19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41" name="Oval 23"/>
              <p:cNvSpPr/>
              <p:nvPr/>
            </p:nvSpPr>
            <p:spPr>
              <a:xfrm>
                <a:off x="97" y="51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287" name="Oval 24"/>
            <p:cNvSpPr>
              <a:spLocks noChangeArrowheads="1"/>
            </p:cNvSpPr>
            <p:nvPr/>
          </p:nvSpPr>
          <p:spPr bwMode="auto">
            <a:xfrm>
              <a:off x="1674" y="3"/>
              <a:ext cx="1073" cy="1065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21" name="Oval 25"/>
            <p:cNvSpPr/>
            <p:nvPr/>
          </p:nvSpPr>
          <p:spPr>
            <a:xfrm>
              <a:off x="1674" y="3"/>
              <a:ext cx="1073" cy="106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31998"/>
                  </a:schemeClr>
                </a:gs>
                <a:gs pos="100000">
                  <a:srgbClr val="35415F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89" name="Oval 26"/>
            <p:cNvSpPr>
              <a:spLocks noChangeArrowheads="1"/>
            </p:cNvSpPr>
            <p:nvPr/>
          </p:nvSpPr>
          <p:spPr bwMode="auto">
            <a:xfrm>
              <a:off x="1744" y="73"/>
              <a:ext cx="933" cy="922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50000">
                  <a:srgbClr val="3E4C6F"/>
                </a:gs>
                <a:gs pos="100000">
                  <a:schemeClr val="accent1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23" name="Oval 27"/>
            <p:cNvSpPr/>
            <p:nvPr/>
          </p:nvSpPr>
          <p:spPr>
            <a:xfrm>
              <a:off x="1745" y="73"/>
              <a:ext cx="933" cy="925"/>
            </a:xfrm>
            <a:prstGeom prst="ellipse">
              <a:avLst/>
            </a:prstGeom>
            <a:gradFill rotWithShape="1">
              <a:gsLst>
                <a:gs pos="0">
                  <a:srgbClr val="485983"/>
                </a:gs>
                <a:gs pos="100000">
                  <a:schemeClr val="accent1">
                    <a:alpha val="0"/>
                  </a:schemeClr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24" name="Oval 28"/>
            <p:cNvSpPr/>
            <p:nvPr/>
          </p:nvSpPr>
          <p:spPr>
            <a:xfrm>
              <a:off x="1790" y="118"/>
              <a:ext cx="840" cy="832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5625" name="Group 29"/>
            <p:cNvGrpSpPr/>
            <p:nvPr/>
          </p:nvGrpSpPr>
          <p:grpSpPr>
            <a:xfrm>
              <a:off x="1804" y="128"/>
              <a:ext cx="813" cy="805"/>
              <a:chOff x="0" y="0"/>
              <a:chExt cx="1252" cy="1252"/>
            </a:xfrm>
          </p:grpSpPr>
          <p:sp>
            <p:nvSpPr>
              <p:cNvPr id="25634" name="Oval 30"/>
              <p:cNvSpPr/>
              <p:nvPr/>
            </p:nvSpPr>
            <p:spPr>
              <a:xfrm>
                <a:off x="0" y="0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5" name="Oval 31"/>
              <p:cNvSpPr/>
              <p:nvPr/>
            </p:nvSpPr>
            <p:spPr>
              <a:xfrm>
                <a:off x="16" y="7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6" name="Oval 32"/>
              <p:cNvSpPr/>
              <p:nvPr/>
            </p:nvSpPr>
            <p:spPr>
              <a:xfrm>
                <a:off x="31" y="19"/>
                <a:ext cx="1163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7" name="Oval 33"/>
              <p:cNvSpPr/>
              <p:nvPr/>
            </p:nvSpPr>
            <p:spPr>
              <a:xfrm>
                <a:off x="95" y="51"/>
                <a:ext cx="1032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626" name="Group 34"/>
            <p:cNvGrpSpPr/>
            <p:nvPr/>
          </p:nvGrpSpPr>
          <p:grpSpPr>
            <a:xfrm>
              <a:off x="3360" y="128"/>
              <a:ext cx="814" cy="805"/>
              <a:chOff x="0" y="0"/>
              <a:chExt cx="1252" cy="1252"/>
            </a:xfrm>
          </p:grpSpPr>
          <p:sp>
            <p:nvSpPr>
              <p:cNvPr id="25630" name="Oval 35"/>
              <p:cNvSpPr/>
              <p:nvPr/>
            </p:nvSpPr>
            <p:spPr>
              <a:xfrm>
                <a:off x="0" y="0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1" name="Oval 36"/>
              <p:cNvSpPr/>
              <p:nvPr/>
            </p:nvSpPr>
            <p:spPr>
              <a:xfrm>
                <a:off x="16" y="7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2" name="Oval 37"/>
              <p:cNvSpPr/>
              <p:nvPr/>
            </p:nvSpPr>
            <p:spPr>
              <a:xfrm>
                <a:off x="29" y="19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33" name="Oval 38"/>
              <p:cNvSpPr/>
              <p:nvPr/>
            </p:nvSpPr>
            <p:spPr>
              <a:xfrm>
                <a:off x="97" y="51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5627" name="Text Box 39"/>
            <p:cNvSpPr txBox="1"/>
            <p:nvPr/>
          </p:nvSpPr>
          <p:spPr>
            <a:xfrm>
              <a:off x="310" y="184"/>
              <a:ext cx="697" cy="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微循环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lvl="0" indent="0" algn="ctr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收缩期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28" name="Text Box 40"/>
            <p:cNvSpPr txBox="1"/>
            <p:nvPr/>
          </p:nvSpPr>
          <p:spPr>
            <a:xfrm>
              <a:off x="1894" y="184"/>
              <a:ext cx="739" cy="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微循环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扩张期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629" name="Text Box 41"/>
            <p:cNvSpPr txBox="1"/>
            <p:nvPr/>
          </p:nvSpPr>
          <p:spPr>
            <a:xfrm>
              <a:off x="3470" y="184"/>
              <a:ext cx="712" cy="7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微循环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衰竭期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5605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概念及病理生理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AutoShape 2" descr="좁은 수평선"/>
          <p:cNvSpPr/>
          <p:nvPr/>
        </p:nvSpPr>
        <p:spPr>
          <a:xfrm>
            <a:off x="1731963" y="16748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1"/>
          </a:blipFill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AutoShape 3"/>
          <p:cNvSpPr/>
          <p:nvPr/>
        </p:nvSpPr>
        <p:spPr>
          <a:xfrm>
            <a:off x="1830388" y="176053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008B45"/>
          </a:solidFill>
          <a:ln w="38100" cap="flat" cmpd="sng">
            <a:solidFill>
              <a:srgbClr val="13131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AutoShape 4" descr="좁은 수평선"/>
          <p:cNvSpPr/>
          <p:nvPr/>
        </p:nvSpPr>
        <p:spPr>
          <a:xfrm>
            <a:off x="1741488" y="26844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AutoShape 5"/>
          <p:cNvSpPr/>
          <p:nvPr/>
        </p:nvSpPr>
        <p:spPr>
          <a:xfrm>
            <a:off x="1839913" y="277018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B3773B"/>
          </a:soli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AutoShape 6" descr="좁은 수평선"/>
          <p:cNvSpPr/>
          <p:nvPr/>
        </p:nvSpPr>
        <p:spPr>
          <a:xfrm>
            <a:off x="1751013" y="36941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1" name="AutoShape 7"/>
          <p:cNvSpPr/>
          <p:nvPr/>
        </p:nvSpPr>
        <p:spPr>
          <a:xfrm>
            <a:off x="1849438" y="377983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02C4DE"/>
              </a:gs>
              <a:gs pos="100000">
                <a:srgbClr val="015B67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AutoShape 8" descr="좁은 수평선"/>
          <p:cNvSpPr/>
          <p:nvPr/>
        </p:nvSpPr>
        <p:spPr>
          <a:xfrm>
            <a:off x="1746250" y="47037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3" name="AutoShape 9"/>
          <p:cNvSpPr/>
          <p:nvPr/>
        </p:nvSpPr>
        <p:spPr>
          <a:xfrm>
            <a:off x="1844675" y="478948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99FF"/>
              </a:gs>
              <a:gs pos="100000">
                <a:srgbClr val="184776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2286000" y="1879600"/>
            <a:ext cx="4230688" cy="40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99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1.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0099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概念及病理生理 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00994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2286000" y="2876550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2.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护理评估</a:t>
            </a:r>
            <a:endParaRPr kumimoji="0" lang="ko-KR" altLang="en-US" sz="35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2286000" y="3857625"/>
            <a:ext cx="4373563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3.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常见护理诊断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问题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7386C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2286000" y="4906963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4.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3E5FB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护理措施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3E5FB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AutoShape 17"/>
          <p:cNvSpPr/>
          <p:nvPr/>
        </p:nvSpPr>
        <p:spPr>
          <a:xfrm>
            <a:off x="981075" y="2143125"/>
            <a:ext cx="7162800" cy="4071938"/>
          </a:xfrm>
          <a:prstGeom prst="roundRect">
            <a:avLst>
              <a:gd name="adj" fmla="val 5329"/>
            </a:avLst>
          </a:prstGeom>
          <a:solidFill>
            <a:schemeClr val="accent2">
              <a:alpha val="50195"/>
            </a:schemeClr>
          </a:solidFill>
          <a:ln w="38100" cap="flat" cmpd="dbl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651" name="Group 18"/>
          <p:cNvGrpSpPr/>
          <p:nvPr/>
        </p:nvGrpSpPr>
        <p:grpSpPr>
          <a:xfrm>
            <a:off x="1695450" y="1622425"/>
            <a:ext cx="5786438" cy="877888"/>
            <a:chOff x="0" y="0"/>
            <a:chExt cx="1096" cy="210"/>
          </a:xfrm>
        </p:grpSpPr>
        <p:sp>
          <p:nvSpPr>
            <p:cNvPr id="27658" name="AutoShape 19"/>
            <p:cNvSpPr/>
            <p:nvPr/>
          </p:nvSpPr>
          <p:spPr>
            <a:xfrm>
              <a:off x="0" y="0"/>
              <a:ext cx="1094" cy="210"/>
            </a:xfrm>
            <a:prstGeom prst="roundRect">
              <a:avLst>
                <a:gd name="adj" fmla="val 41602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rgbClr val="006030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35921" dir="2699999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7659" name="Group 20"/>
            <p:cNvGrpSpPr/>
            <p:nvPr/>
          </p:nvGrpSpPr>
          <p:grpSpPr>
            <a:xfrm>
              <a:off x="4" y="31"/>
              <a:ext cx="45" cy="163"/>
              <a:chOff x="0" y="0"/>
              <a:chExt cx="68" cy="198"/>
            </a:xfrm>
          </p:grpSpPr>
          <p:sp>
            <p:nvSpPr>
              <p:cNvPr id="27665" name="AutoShape 21"/>
              <p:cNvSpPr/>
              <p:nvPr/>
            </p:nvSpPr>
            <p:spPr>
              <a:xfrm rot="-267535" flipV="1">
                <a:off x="0" y="0"/>
                <a:ext cx="68" cy="198"/>
              </a:xfrm>
              <a:prstGeom prst="moon">
                <a:avLst>
                  <a:gd name="adj" fmla="val 20051"/>
                </a:avLst>
              </a:prstGeom>
              <a:solidFill>
                <a:srgbClr val="FFFFFF">
                  <a:alpha val="39999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66" name="AutoShape 22"/>
              <p:cNvSpPr/>
              <p:nvPr/>
            </p:nvSpPr>
            <p:spPr>
              <a:xfrm rot="-267535" flipV="1">
                <a:off x="4" y="15"/>
                <a:ext cx="42" cy="167"/>
              </a:xfrm>
              <a:prstGeom prst="moon">
                <a:avLst>
                  <a:gd name="adj" fmla="val 20051"/>
                </a:avLst>
              </a:prstGeom>
              <a:solidFill>
                <a:srgbClr val="FFFFFF">
                  <a:alpha val="39999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67" name="AutoShape 23"/>
              <p:cNvSpPr/>
              <p:nvPr/>
            </p:nvSpPr>
            <p:spPr>
              <a:xfrm rot="-267535" flipV="1">
                <a:off x="2" y="37"/>
                <a:ext cx="27" cy="123"/>
              </a:xfrm>
              <a:prstGeom prst="moon">
                <a:avLst>
                  <a:gd name="adj" fmla="val 20051"/>
                </a:avLst>
              </a:prstGeom>
              <a:solidFill>
                <a:srgbClr val="FFFFFF">
                  <a:alpha val="39999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660" name="Group 24"/>
            <p:cNvGrpSpPr/>
            <p:nvPr/>
          </p:nvGrpSpPr>
          <p:grpSpPr>
            <a:xfrm>
              <a:off x="1047" y="29"/>
              <a:ext cx="49" cy="172"/>
              <a:chOff x="0" y="0"/>
              <a:chExt cx="68" cy="198"/>
            </a:xfrm>
          </p:grpSpPr>
          <p:sp>
            <p:nvSpPr>
              <p:cNvPr id="27662" name="AutoShape 25"/>
              <p:cNvSpPr/>
              <p:nvPr/>
            </p:nvSpPr>
            <p:spPr>
              <a:xfrm rot="267535" flipH="1" flipV="1">
                <a:off x="0" y="0"/>
                <a:ext cx="68" cy="198"/>
              </a:xfrm>
              <a:prstGeom prst="moon">
                <a:avLst>
                  <a:gd name="adj" fmla="val 20051"/>
                </a:avLst>
              </a:prstGeom>
              <a:solidFill>
                <a:srgbClr val="333333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63" name="AutoShape 26"/>
              <p:cNvSpPr/>
              <p:nvPr/>
            </p:nvSpPr>
            <p:spPr>
              <a:xfrm rot="267535" flipH="1" flipV="1">
                <a:off x="22" y="15"/>
                <a:ext cx="42" cy="167"/>
              </a:xfrm>
              <a:prstGeom prst="moon">
                <a:avLst>
                  <a:gd name="adj" fmla="val 20051"/>
                </a:avLst>
              </a:prstGeom>
              <a:solidFill>
                <a:srgbClr val="333333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664" name="AutoShape 27"/>
              <p:cNvSpPr/>
              <p:nvPr/>
            </p:nvSpPr>
            <p:spPr>
              <a:xfrm rot="267535" flipH="1" flipV="1">
                <a:off x="39" y="37"/>
                <a:ext cx="27" cy="123"/>
              </a:xfrm>
              <a:prstGeom prst="moon">
                <a:avLst>
                  <a:gd name="adj" fmla="val 29657"/>
                </a:avLst>
              </a:prstGeom>
              <a:solidFill>
                <a:srgbClr val="333333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7661" name="Picture 28" descr="high_line01"/>
            <p:cNvPicPr>
              <a:picLocks noChangeAspect="1"/>
            </p:cNvPicPr>
            <p:nvPr/>
          </p:nvPicPr>
          <p:blipFill>
            <a:blip r:embed="rId1"/>
            <a:srcRect t="8891" r="58304" b="12320"/>
            <a:stretch>
              <a:fillRect/>
            </a:stretch>
          </p:blipFill>
          <p:spPr>
            <a:xfrm rot="-5400000">
              <a:off x="477" y="-431"/>
              <a:ext cx="130" cy="1000"/>
            </a:xfrm>
            <a:prstGeom prst="rect">
              <a:avLst/>
            </a:prstGeom>
            <a:noFill/>
            <a:ln w="9525">
              <a:noFill/>
            </a:ln>
          </p:spPr>
        </p:pic>
      </p:grpSp>
      <p:cxnSp>
        <p:nvCxnSpPr>
          <p:cNvPr id="27652" name="AutoShape 86"/>
          <p:cNvCxnSpPr/>
          <p:nvPr/>
        </p:nvCxnSpPr>
        <p:spPr>
          <a:xfrm rot="5400000">
            <a:off x="1733550" y="1033463"/>
            <a:ext cx="558800" cy="925512"/>
          </a:xfrm>
          <a:prstGeom prst="bentConnector3">
            <a:avLst>
              <a:gd name="adj1" fmla="val 49593"/>
            </a:avLst>
          </a:prstGeo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653" name="AutoShape 87"/>
          <p:cNvCxnSpPr/>
          <p:nvPr/>
        </p:nvCxnSpPr>
        <p:spPr>
          <a:xfrm rot="-5400000" flipH="1">
            <a:off x="2709863" y="981075"/>
            <a:ext cx="558800" cy="1030288"/>
          </a:xfrm>
          <a:prstGeom prst="bentConnector3">
            <a:avLst>
              <a:gd name="adj1" fmla="val 49593"/>
            </a:avLst>
          </a:prstGeo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654" name="AutoShape 99"/>
          <p:cNvCxnSpPr/>
          <p:nvPr/>
        </p:nvCxnSpPr>
        <p:spPr>
          <a:xfrm rot="5400000">
            <a:off x="5835650" y="1012825"/>
            <a:ext cx="560388" cy="962025"/>
          </a:xfrm>
          <a:prstGeom prst="bentConnector3">
            <a:avLst>
              <a:gd name="adj1" fmla="val 49458"/>
            </a:avLst>
          </a:prstGeo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7655" name="AutoShape 114"/>
          <p:cNvSpPr/>
          <p:nvPr/>
        </p:nvSpPr>
        <p:spPr>
          <a:xfrm>
            <a:off x="1123950" y="2571750"/>
            <a:ext cx="6858000" cy="3571875"/>
          </a:xfrm>
          <a:prstGeom prst="roundRect">
            <a:avLst>
              <a:gd name="adj" fmla="val 6472"/>
            </a:avLst>
          </a:prstGeom>
          <a:solidFill>
            <a:srgbClr val="F8F8F8"/>
          </a:solidFill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了解：</a:t>
            </a:r>
            <a:endParaRPr lang="zh-CN" altLang="en-US" sz="2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994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▲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有无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外伤大出血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病史</a:t>
            </a:r>
            <a:endParaRPr lang="zh-CN" altLang="en-US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994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▲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有无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大量失液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病史（肠梗阻、大面积烧伤等）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994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▲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有无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严重感染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病史（急性腹膜炎、急性梗阻性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   化脓性胆管炎、绞窄性肠梗阻等）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30" name="Rectangle 126"/>
          <p:cNvSpPr>
            <a:spLocks noChangeArrowheads="1"/>
          </p:cNvSpPr>
          <p:nvPr/>
        </p:nvSpPr>
        <p:spPr bwMode="auto">
          <a:xfrm>
            <a:off x="2052638" y="1762125"/>
            <a:ext cx="5072063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健康史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7657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护理评估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338" name="Group 2"/>
          <p:cNvGraphicFramePr>
            <a:graphicFrameLocks noGrp="1"/>
          </p:cNvGraphicFramePr>
          <p:nvPr/>
        </p:nvGraphicFramePr>
        <p:xfrm>
          <a:off x="539750" y="2214563"/>
          <a:ext cx="8064500" cy="4086225"/>
        </p:xfrm>
        <a:graphic>
          <a:graphicData uri="http://schemas.openxmlformats.org/drawingml/2006/table">
            <a:tbl>
              <a:tblPr/>
              <a:tblGrid>
                <a:gridCol w="358775"/>
                <a:gridCol w="415925"/>
                <a:gridCol w="901700"/>
                <a:gridCol w="900113"/>
                <a:gridCol w="771525"/>
                <a:gridCol w="901700"/>
                <a:gridCol w="787400"/>
                <a:gridCol w="1274762"/>
                <a:gridCol w="777875"/>
                <a:gridCol w="974725"/>
              </a:tblGrid>
              <a:tr h="3159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分期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程度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神志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皮肤黏膜（体表）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脉搏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血压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尿量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估计失血量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13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色泽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温度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血管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00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休克代偿期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轻度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清楚，精神紧张，躁动不安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开始苍白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正常或发冷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100次/分以下，尚有力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舒张压升高，收缩压正常或稍高，脉压缩小＜30mmHg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正常或稍少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&lt;20%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(&lt;800ml)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125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休克抑制期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中度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尚清楚，表情淡漠，反应迟钝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苍白或发绀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发冷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表浅静脉塌陷，毛细血管充盈迟缓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100次/分以上，较弱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收缩压下降为70～90mmHg，脉压更小＜20mmHg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减少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20%～40%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(800～1600ml)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430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重度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意识模糊，嗜睡，甚至昏迷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显著苍白，青紫或花斑状、瘀斑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厥冷（肢端尤其明显）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毛细血管充盈更迟缓，表浅静脉塌陷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很弱或摸不清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收缩压在70mmHg以下或测不到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极少或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无尿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&gt;40%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(&gt;1600ml)</a:t>
                      </a:r>
                      <a:endParaRPr kumimoji="0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733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护理评估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98" name="Freeform 7"/>
          <p:cNvSpPr/>
          <p:nvPr/>
        </p:nvSpPr>
        <p:spPr bwMode="auto">
          <a:xfrm>
            <a:off x="2538413" y="1468438"/>
            <a:ext cx="4533900" cy="568325"/>
          </a:xfrm>
          <a:custGeom>
            <a:avLst/>
            <a:gdLst>
              <a:gd name="T0" fmla="*/ 0 w 2856"/>
              <a:gd name="T1" fmla="*/ 5 h 358"/>
              <a:gd name="T2" fmla="*/ 0 w 2856"/>
              <a:gd name="T3" fmla="*/ 357 h 358"/>
              <a:gd name="T4" fmla="*/ 2667 w 2856"/>
              <a:gd name="T5" fmla="*/ 357 h 358"/>
              <a:gd name="T6" fmla="*/ 2854 w 2856"/>
              <a:gd name="T7" fmla="*/ 182 h 358"/>
              <a:gd name="T8" fmla="*/ 2667 w 2856"/>
              <a:gd name="T9" fmla="*/ 0 h 358"/>
              <a:gd name="T10" fmla="*/ 0 w 2856"/>
              <a:gd name="T11" fmla="*/ 5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56"/>
              <a:gd name="T19" fmla="*/ 0 h 358"/>
              <a:gd name="T20" fmla="*/ 2856 w 2856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56" h="358">
                <a:moveTo>
                  <a:pt x="0" y="5"/>
                </a:moveTo>
                <a:lnTo>
                  <a:pt x="0" y="357"/>
                </a:lnTo>
                <a:cubicBezTo>
                  <a:pt x="97" y="358"/>
                  <a:pt x="2594" y="357"/>
                  <a:pt x="2667" y="357"/>
                </a:cubicBezTo>
                <a:cubicBezTo>
                  <a:pt x="2739" y="357"/>
                  <a:pt x="2851" y="321"/>
                  <a:pt x="2854" y="182"/>
                </a:cubicBezTo>
                <a:cubicBezTo>
                  <a:pt x="2856" y="43"/>
                  <a:pt x="2755" y="0"/>
                  <a:pt x="2667" y="0"/>
                </a:cubicBezTo>
                <a:cubicBezTo>
                  <a:pt x="2579" y="0"/>
                  <a:pt x="95" y="5"/>
                  <a:pt x="0" y="5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50000">
                <a:srgbClr val="97AADB"/>
              </a:gs>
              <a:gs pos="100000">
                <a:schemeClr val="accent1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99" name="Freeform 8"/>
          <p:cNvSpPr/>
          <p:nvPr/>
        </p:nvSpPr>
        <p:spPr bwMode="auto">
          <a:xfrm>
            <a:off x="1836738" y="1468438"/>
            <a:ext cx="609600" cy="568325"/>
          </a:xfrm>
          <a:custGeom>
            <a:avLst/>
            <a:gdLst>
              <a:gd name="T0" fmla="*/ 372 w 372"/>
              <a:gd name="T1" fmla="*/ 1 h 358"/>
              <a:gd name="T2" fmla="*/ 372 w 372"/>
              <a:gd name="T3" fmla="*/ 358 h 358"/>
              <a:gd name="T4" fmla="*/ 165 w 372"/>
              <a:gd name="T5" fmla="*/ 357 h 358"/>
              <a:gd name="T6" fmla="*/ 0 w 372"/>
              <a:gd name="T7" fmla="*/ 181 h 358"/>
              <a:gd name="T8" fmla="*/ 164 w 372"/>
              <a:gd name="T9" fmla="*/ 1 h 358"/>
              <a:gd name="T10" fmla="*/ 372 w 372"/>
              <a:gd name="T11" fmla="*/ 1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2"/>
              <a:gd name="T19" fmla="*/ 0 h 358"/>
              <a:gd name="T20" fmla="*/ 372 w 372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2" h="358">
                <a:moveTo>
                  <a:pt x="372" y="1"/>
                </a:moveTo>
                <a:cubicBezTo>
                  <a:pt x="372" y="179"/>
                  <a:pt x="372" y="358"/>
                  <a:pt x="372" y="358"/>
                </a:cubicBezTo>
                <a:lnTo>
                  <a:pt x="165" y="357"/>
                </a:lnTo>
                <a:cubicBezTo>
                  <a:pt x="137" y="357"/>
                  <a:pt x="0" y="316"/>
                  <a:pt x="0" y="181"/>
                </a:cubicBezTo>
                <a:cubicBezTo>
                  <a:pt x="0" y="46"/>
                  <a:pt x="126" y="0"/>
                  <a:pt x="164" y="1"/>
                </a:cubicBezTo>
                <a:lnTo>
                  <a:pt x="372" y="1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50000">
                <a:srgbClr val="97AADB"/>
              </a:gs>
              <a:gs pos="100000">
                <a:schemeClr val="accent1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36" name="Text Box 12"/>
          <p:cNvSpPr txBox="1"/>
          <p:nvPr/>
        </p:nvSpPr>
        <p:spPr>
          <a:xfrm>
            <a:off x="2643188" y="1527175"/>
            <a:ext cx="4143375" cy="461963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zh-CN" altLang="en-US" sz="2400" b="1" dirty="0">
                <a:solidFill>
                  <a:srgbClr val="FF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身体状况：评估要点及程度</a:t>
            </a:r>
            <a:endParaRPr lang="zh-CN" altLang="en-US" sz="2400" b="1" dirty="0">
              <a:solidFill>
                <a:srgbClr val="FF33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737" name="Text Box 15"/>
          <p:cNvSpPr txBox="1"/>
          <p:nvPr/>
        </p:nvSpPr>
        <p:spPr>
          <a:xfrm>
            <a:off x="1970088" y="1430338"/>
            <a:ext cx="304800" cy="641350"/>
          </a:xfrm>
          <a:prstGeom prst="rect">
            <a:avLst/>
          </a:prstGeom>
          <a:noFill/>
          <a:ln w="9525">
            <a:noFill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AutoShape 17"/>
          <p:cNvSpPr/>
          <p:nvPr/>
        </p:nvSpPr>
        <p:spPr>
          <a:xfrm>
            <a:off x="981075" y="2143125"/>
            <a:ext cx="7162800" cy="4071938"/>
          </a:xfrm>
          <a:prstGeom prst="roundRect">
            <a:avLst>
              <a:gd name="adj" fmla="val 5329"/>
            </a:avLst>
          </a:prstGeom>
          <a:solidFill>
            <a:srgbClr val="A29E00">
              <a:alpha val="50195"/>
            </a:srgbClr>
          </a:solidFill>
          <a:ln w="38100" cap="flat" cmpd="dbl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699" name="Group 18"/>
          <p:cNvPicPr/>
          <p:nvPr/>
        </p:nvPicPr>
        <p:blipFill>
          <a:blip r:embed="rId1"/>
          <a:stretch>
            <a:fillRect/>
          </a:stretch>
        </p:blipFill>
        <p:spPr>
          <a:xfrm>
            <a:off x="1639888" y="1566863"/>
            <a:ext cx="5808662" cy="9144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9700" name="AutoShape 86"/>
          <p:cNvCxnSpPr/>
          <p:nvPr/>
        </p:nvCxnSpPr>
        <p:spPr>
          <a:xfrm rot="5400000">
            <a:off x="1733550" y="1033463"/>
            <a:ext cx="558800" cy="925512"/>
          </a:xfrm>
          <a:prstGeom prst="bentConnector3">
            <a:avLst>
              <a:gd name="adj1" fmla="val 49593"/>
            </a:avLst>
          </a:prstGeo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701" name="AutoShape 87"/>
          <p:cNvCxnSpPr/>
          <p:nvPr/>
        </p:nvCxnSpPr>
        <p:spPr>
          <a:xfrm rot="-5400000" flipH="1">
            <a:off x="2709863" y="981075"/>
            <a:ext cx="558800" cy="1030288"/>
          </a:xfrm>
          <a:prstGeom prst="bentConnector3">
            <a:avLst>
              <a:gd name="adj1" fmla="val 49593"/>
            </a:avLst>
          </a:prstGeo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702" name="AutoShape 99"/>
          <p:cNvCxnSpPr/>
          <p:nvPr/>
        </p:nvCxnSpPr>
        <p:spPr>
          <a:xfrm rot="5400000">
            <a:off x="5835650" y="1012825"/>
            <a:ext cx="560388" cy="962025"/>
          </a:xfrm>
          <a:prstGeom prst="bentConnector3">
            <a:avLst>
              <a:gd name="adj1" fmla="val 49458"/>
            </a:avLst>
          </a:prstGeom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9703" name="AutoShape 114"/>
          <p:cNvSpPr/>
          <p:nvPr/>
        </p:nvSpPr>
        <p:spPr>
          <a:xfrm>
            <a:off x="1123950" y="2571750"/>
            <a:ext cx="6858000" cy="3571875"/>
          </a:xfrm>
          <a:prstGeom prst="roundRect">
            <a:avLst>
              <a:gd name="adj" fmla="val 6472"/>
            </a:avLst>
          </a:prstGeom>
          <a:solidFill>
            <a:srgbClr val="F8F8F8"/>
          </a:solidFill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了解：</a:t>
            </a:r>
            <a:endParaRPr lang="zh-CN" altLang="en-US" sz="2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引起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不良情绪反应</a:t>
            </a:r>
            <a:r>
              <a:rPr lang="zh-CN" altLang="en-US" sz="2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的原因</a:t>
            </a:r>
            <a:endParaRPr lang="zh-CN" altLang="en-US" sz="2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994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▲</a:t>
            </a:r>
            <a:r>
              <a:rPr lang="zh-CN" altLang="en-US" sz="2400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不良情绪反应：焦虑、恐惧等</a:t>
            </a:r>
            <a:endParaRPr lang="zh-CN" altLang="en-US" sz="2400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994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▲</a:t>
            </a:r>
            <a:r>
              <a:rPr lang="zh-CN" altLang="en-US" sz="2400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引发因素：</a:t>
            </a:r>
            <a:endParaRPr lang="zh-CN" altLang="en-US" sz="2400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①病情危重、变化快、并发症多</a:t>
            </a:r>
            <a:endParaRPr lang="zh-CN" altLang="en-US" sz="2400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②病人及家属对治疗和预后的认知程度 </a:t>
            </a:r>
            <a:endParaRPr lang="zh-CN" altLang="en-US" sz="2400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68" name="Rectangle 126"/>
          <p:cNvSpPr>
            <a:spLocks noChangeArrowheads="1"/>
          </p:cNvSpPr>
          <p:nvPr/>
        </p:nvSpPr>
        <p:spPr bwMode="auto">
          <a:xfrm>
            <a:off x="2052638" y="1714500"/>
            <a:ext cx="5072063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心理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-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社会状况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05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护理评估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Freeform 8"/>
          <p:cNvSpPr/>
          <p:nvPr/>
        </p:nvSpPr>
        <p:spPr>
          <a:xfrm>
            <a:off x="4700588" y="3767138"/>
            <a:ext cx="4086225" cy="2519362"/>
          </a:xfrm>
          <a:custGeom>
            <a:avLst/>
            <a:gdLst>
              <a:gd name="txL" fmla="*/ 0 w 2305"/>
              <a:gd name="txT" fmla="*/ 0 h 1185"/>
              <a:gd name="txR" fmla="*/ 2305 w 2305"/>
              <a:gd name="txB" fmla="*/ 1185 h 118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</a:cxnLst>
            <a:rect l="txL" t="txT" r="txR" b="txB"/>
            <a:pathLst>
              <a:path w="2305" h="1185">
                <a:moveTo>
                  <a:pt x="1" y="494"/>
                </a:moveTo>
                <a:cubicBezTo>
                  <a:pt x="122" y="485"/>
                  <a:pt x="249" y="419"/>
                  <a:pt x="314" y="352"/>
                </a:cubicBezTo>
                <a:cubicBezTo>
                  <a:pt x="379" y="285"/>
                  <a:pt x="465" y="177"/>
                  <a:pt x="483" y="0"/>
                </a:cubicBezTo>
                <a:lnTo>
                  <a:pt x="2305" y="1"/>
                </a:lnTo>
                <a:lnTo>
                  <a:pt x="2305" y="1184"/>
                </a:lnTo>
                <a:lnTo>
                  <a:pt x="0" y="1185"/>
                </a:lnTo>
                <a:lnTo>
                  <a:pt x="1" y="494"/>
                </a:lnTo>
                <a:close/>
              </a:path>
            </a:pathLst>
          </a:custGeom>
          <a:solidFill>
            <a:schemeClr val="hlink">
              <a:alpha val="14902"/>
            </a:schemeClr>
          </a:solidFill>
          <a:ln w="9525" cap="flat" cmpd="sng">
            <a:prstDash val="solid"/>
            <a:headEnd type="none" w="med" len="med"/>
            <a:tailEnd type="none" w="med" len="med"/>
          </a:ln>
          <a:scene3d>
            <a:camera prst="legacyPerspectiveFront">
              <a:rot lat="0" lon="0" rev="0"/>
            </a:camera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/>
          <a:p>
            <a:endParaRPr lang="zh-CN" altLang="en-US"/>
          </a:p>
        </p:txBody>
      </p:sp>
      <p:sp>
        <p:nvSpPr>
          <p:cNvPr id="30723" name="Rectangle 6"/>
          <p:cNvSpPr/>
          <p:nvPr/>
        </p:nvSpPr>
        <p:spPr>
          <a:xfrm flipH="1">
            <a:off x="4714875" y="3852863"/>
            <a:ext cx="4019550" cy="422275"/>
          </a:xfrm>
          <a:prstGeom prst="rect">
            <a:avLst/>
          </a:prstGeom>
          <a:solidFill>
            <a:srgbClr val="7386C4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⑷肺毛细血管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楔压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Freeform 7"/>
          <p:cNvSpPr/>
          <p:nvPr/>
        </p:nvSpPr>
        <p:spPr>
          <a:xfrm>
            <a:off x="428625" y="3781425"/>
            <a:ext cx="4129088" cy="2505075"/>
          </a:xfrm>
          <a:custGeom>
            <a:avLst/>
            <a:gdLst>
              <a:gd name="txL" fmla="*/ 0 w 2305"/>
              <a:gd name="txT" fmla="*/ 0 h 1184"/>
              <a:gd name="txR" fmla="*/ 2305 w 2305"/>
              <a:gd name="txB" fmla="*/ 1184 h 118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305" h="1184">
                <a:moveTo>
                  <a:pt x="2304" y="493"/>
                </a:moveTo>
                <a:cubicBezTo>
                  <a:pt x="2183" y="484"/>
                  <a:pt x="2056" y="418"/>
                  <a:pt x="1991" y="351"/>
                </a:cubicBezTo>
                <a:cubicBezTo>
                  <a:pt x="1926" y="284"/>
                  <a:pt x="1831" y="178"/>
                  <a:pt x="1813" y="1"/>
                </a:cubicBezTo>
                <a:lnTo>
                  <a:pt x="0" y="0"/>
                </a:lnTo>
                <a:lnTo>
                  <a:pt x="0" y="1183"/>
                </a:lnTo>
                <a:lnTo>
                  <a:pt x="2305" y="1184"/>
                </a:lnTo>
                <a:lnTo>
                  <a:pt x="2304" y="493"/>
                </a:lnTo>
                <a:close/>
              </a:path>
            </a:pathLst>
          </a:custGeom>
          <a:solidFill>
            <a:schemeClr val="accent1">
              <a:alpha val="14902"/>
            </a:schemeClr>
          </a:solidFill>
          <a:ln w="9525" cap="flat" cmpd="sng">
            <a:prstDash val="solid"/>
            <a:headEnd type="none" w="med" len="med"/>
            <a:tailEnd type="none" w="med" len="med"/>
          </a:ln>
          <a:scene3d>
            <a:camera prst="legacyPerspectiveFront">
              <a:rot lat="0" lon="0" rev="0"/>
            </a:camera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/>
          <a:p>
            <a:endParaRPr lang="zh-CN" altLang="en-US"/>
          </a:p>
        </p:txBody>
      </p:sp>
      <p:sp>
        <p:nvSpPr>
          <p:cNvPr id="30725" name="Rectangle 4"/>
          <p:cNvSpPr/>
          <p:nvPr/>
        </p:nvSpPr>
        <p:spPr>
          <a:xfrm>
            <a:off x="428625" y="3859213"/>
            <a:ext cx="4071938" cy="422275"/>
          </a:xfrm>
          <a:prstGeom prst="rect">
            <a:avLst/>
          </a:prstGeom>
          <a:solidFill>
            <a:srgbClr val="FFC000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⑶中心静脉压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Freeform 3"/>
          <p:cNvSpPr/>
          <p:nvPr/>
        </p:nvSpPr>
        <p:spPr>
          <a:xfrm>
            <a:off x="428625" y="1500188"/>
            <a:ext cx="4132263" cy="2151062"/>
          </a:xfrm>
          <a:custGeom>
            <a:avLst/>
            <a:gdLst>
              <a:gd name="txL" fmla="*/ 0 w 2305"/>
              <a:gd name="txT" fmla="*/ 0 h 1184"/>
              <a:gd name="txR" fmla="*/ 2305 w 2305"/>
              <a:gd name="txB" fmla="*/ 1184 h 118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2305" h="1184">
                <a:moveTo>
                  <a:pt x="2304" y="691"/>
                </a:moveTo>
                <a:cubicBezTo>
                  <a:pt x="2183" y="700"/>
                  <a:pt x="2056" y="766"/>
                  <a:pt x="1991" y="833"/>
                </a:cubicBezTo>
                <a:cubicBezTo>
                  <a:pt x="1926" y="900"/>
                  <a:pt x="1835" y="1007"/>
                  <a:pt x="1817" y="1184"/>
                </a:cubicBezTo>
                <a:lnTo>
                  <a:pt x="0" y="1184"/>
                </a:lnTo>
                <a:lnTo>
                  <a:pt x="0" y="1"/>
                </a:lnTo>
                <a:lnTo>
                  <a:pt x="2305" y="0"/>
                </a:lnTo>
                <a:lnTo>
                  <a:pt x="2304" y="691"/>
                </a:lnTo>
                <a:close/>
              </a:path>
            </a:pathLst>
          </a:custGeom>
          <a:solidFill>
            <a:schemeClr val="accent2">
              <a:alpha val="14902"/>
            </a:schemeClr>
          </a:solidFill>
          <a:ln w="9525" cap="flat" cmpd="sng">
            <a:prstDash val="solid"/>
            <a:headEnd type="none" w="med" len="med"/>
            <a:tailEnd type="none" w="med" len="med"/>
          </a:ln>
          <a:scene3d>
            <a:camera prst="legacyPerspectiveFront">
              <a:rot lat="0" lon="0" rev="0"/>
            </a:camera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/>
          <a:p>
            <a:endParaRPr lang="zh-CN" altLang="en-US"/>
          </a:p>
        </p:txBody>
      </p:sp>
      <p:sp>
        <p:nvSpPr>
          <p:cNvPr id="16391" name="Rectangle 4"/>
          <p:cNvSpPr>
            <a:spLocks noChangeArrowheads="1"/>
          </p:cNvSpPr>
          <p:nvPr/>
        </p:nvSpPr>
        <p:spPr bwMode="auto">
          <a:xfrm>
            <a:off x="428625" y="1566863"/>
            <a:ext cx="4071939" cy="422276"/>
          </a:xfrm>
          <a:prstGeom prst="rect">
            <a:avLst/>
          </a:prstGeom>
          <a:gradFill rotWithShape="1">
            <a:gsLst>
              <a:gs pos="0">
                <a:srgbClr val="00B65B"/>
              </a:gs>
              <a:gs pos="50000">
                <a:schemeClr val="accent2">
                  <a:alpha val="79999"/>
                </a:schemeClr>
              </a:gs>
              <a:gs pos="100000">
                <a:srgbClr val="00B65B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⑴血、尿和粪常规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0" name="Freeform 5"/>
          <p:cNvSpPr/>
          <p:nvPr/>
        </p:nvSpPr>
        <p:spPr>
          <a:xfrm>
            <a:off x="4703763" y="1495425"/>
            <a:ext cx="4083050" cy="2154238"/>
          </a:xfrm>
          <a:custGeom>
            <a:avLst/>
            <a:gdLst>
              <a:gd name="txL" fmla="*/ 0 w 2305"/>
              <a:gd name="txT" fmla="*/ 0 h 1184"/>
              <a:gd name="txR" fmla="*/ 2305 w 2305"/>
              <a:gd name="txB" fmla="*/ 1184 h 118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2305" h="1184">
                <a:moveTo>
                  <a:pt x="1" y="691"/>
                </a:moveTo>
                <a:cubicBezTo>
                  <a:pt x="122" y="700"/>
                  <a:pt x="249" y="766"/>
                  <a:pt x="314" y="833"/>
                </a:cubicBezTo>
                <a:cubicBezTo>
                  <a:pt x="379" y="900"/>
                  <a:pt x="463" y="1005"/>
                  <a:pt x="481" y="1182"/>
                </a:cubicBezTo>
                <a:lnTo>
                  <a:pt x="2305" y="1184"/>
                </a:lnTo>
                <a:lnTo>
                  <a:pt x="2305" y="1"/>
                </a:lnTo>
                <a:lnTo>
                  <a:pt x="0" y="0"/>
                </a:lnTo>
                <a:lnTo>
                  <a:pt x="1" y="691"/>
                </a:lnTo>
                <a:close/>
              </a:path>
            </a:pathLst>
          </a:custGeom>
          <a:solidFill>
            <a:schemeClr val="folHlink">
              <a:alpha val="14902"/>
            </a:schemeClr>
          </a:solidFill>
          <a:ln w="9525" cap="flat" cmpd="sng">
            <a:prstDash val="solid"/>
            <a:headEnd type="none" w="med" len="med"/>
            <a:tailEnd type="none" w="med" len="med"/>
          </a:ln>
          <a:scene3d>
            <a:camera prst="legacyPerspectiveFront">
              <a:rot lat="0" lon="0" rev="0"/>
            </a:camera>
            <a:lightRig rig="legacyFlat3" dir="b"/>
          </a:scene3d>
          <a:sp3d extrusionH="176200" prstMaterial="legacyMatte">
            <a:bevelT w="13500" h="13500" prst="angle"/>
            <a:bevelB w="13500" h="13500" prst="angle"/>
            <a:extrusionClr>
              <a:srgbClr val="B2B2B2"/>
            </a:extrusionClr>
          </a:sp3d>
        </p:spPr>
        <p:txBody>
          <a:bodyPr/>
          <a:p>
            <a:endParaRPr lang="zh-CN" altLang="en-US"/>
          </a:p>
        </p:txBody>
      </p:sp>
      <p:sp>
        <p:nvSpPr>
          <p:cNvPr id="16393" name="Rectangle 6"/>
          <p:cNvSpPr>
            <a:spLocks noChangeArrowheads="1"/>
          </p:cNvSpPr>
          <p:nvPr/>
        </p:nvSpPr>
        <p:spPr bwMode="auto">
          <a:xfrm flipH="1">
            <a:off x="4714875" y="1566863"/>
            <a:ext cx="4019550" cy="422276"/>
          </a:xfrm>
          <a:prstGeom prst="rect">
            <a:avLst/>
          </a:prstGeom>
          <a:gradFill rotWithShape="1">
            <a:gsLst>
              <a:gs pos="0">
                <a:srgbClr val="0088B6"/>
              </a:gs>
              <a:gs pos="50000">
                <a:schemeClr val="folHlink">
                  <a:alpha val="79999"/>
                </a:schemeClr>
              </a:gs>
              <a:gs pos="100000">
                <a:srgbClr val="0088B6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⑵动脉血气分析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4" name="Rectangle 17"/>
          <p:cNvSpPr/>
          <p:nvPr/>
        </p:nvSpPr>
        <p:spPr>
          <a:xfrm>
            <a:off x="546100" y="2066925"/>
            <a:ext cx="3740150" cy="149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反映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失血、失液、感染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情况：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血常规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→失血、失液、感染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尿常规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：尿比重→血容量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粪常规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：黑便或粪便隐血试验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    →消化道出血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0735" name="Group 35"/>
          <p:cNvGrpSpPr/>
          <p:nvPr/>
        </p:nvGrpSpPr>
        <p:grpSpPr>
          <a:xfrm>
            <a:off x="3779838" y="2997200"/>
            <a:ext cx="1682750" cy="1682750"/>
            <a:chOff x="0" y="0"/>
            <a:chExt cx="1060" cy="1060"/>
          </a:xfrm>
        </p:grpSpPr>
        <p:sp>
          <p:nvSpPr>
            <p:cNvPr id="30749" name="Oval 29"/>
            <p:cNvSpPr/>
            <p:nvPr/>
          </p:nvSpPr>
          <p:spPr>
            <a:xfrm>
              <a:off x="0" y="0"/>
              <a:ext cx="1060" cy="10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8A8A8A"/>
                </a:gs>
                <a:gs pos="100000">
                  <a:srgbClr val="FFFFFF"/>
                </a:gs>
              </a:gsLst>
              <a:lin ang="2700000" scaled="1"/>
              <a:tileRect/>
            </a:gradFill>
            <a:ln w="9525" cap="flat" cmpd="sng">
              <a:solidFill>
                <a:srgbClr val="DDDDDD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0750" name="Group 30"/>
            <p:cNvGrpSpPr/>
            <p:nvPr/>
          </p:nvGrpSpPr>
          <p:grpSpPr>
            <a:xfrm rot="-2288454">
              <a:off x="89" y="71"/>
              <a:ext cx="887" cy="907"/>
              <a:chOff x="0" y="0"/>
              <a:chExt cx="433" cy="422"/>
            </a:xfrm>
          </p:grpSpPr>
          <p:pic>
            <p:nvPicPr>
              <p:cNvPr id="30752" name="Picture 31" descr="circuler_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0" y="0"/>
                <a:ext cx="430" cy="42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30753" name="Oval 32"/>
              <p:cNvSpPr/>
              <p:nvPr/>
            </p:nvSpPr>
            <p:spPr>
              <a:xfrm>
                <a:off x="0" y="0"/>
                <a:ext cx="433" cy="422"/>
              </a:xfrm>
              <a:prstGeom prst="ellipse">
                <a:avLst/>
              </a:prstGeom>
              <a:solidFill>
                <a:srgbClr val="FF6600">
                  <a:alpha val="74901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30754" name="Picture 33" descr="Picture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" y="4"/>
                <a:ext cx="345" cy="149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30751" name="Picture 34"/>
            <p:cNvPicPr>
              <a:picLocks noChangeAspect="1"/>
            </p:cNvPicPr>
            <p:nvPr/>
          </p:nvPicPr>
          <p:blipFill>
            <a:blip r:embed="rId3"/>
            <a:srcRect l="12015" t="9302" r="12404" b="12598"/>
            <a:stretch>
              <a:fillRect/>
            </a:stretch>
          </p:blipFill>
          <p:spPr>
            <a:xfrm>
              <a:off x="78" y="43"/>
              <a:ext cx="915" cy="942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0736" name="Text Box 37"/>
          <p:cNvSpPr txBox="1"/>
          <p:nvPr/>
        </p:nvSpPr>
        <p:spPr>
          <a:xfrm>
            <a:off x="3816350" y="3500438"/>
            <a:ext cx="1612900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chemeClr val="bg2"/>
            </a:outerShdw>
          </a:effectLst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辅助检查</a:t>
            </a:r>
            <a:endParaRPr lang="zh-CN" altLang="en-US" sz="24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0737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护理评估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8" name="Rectangle 17"/>
          <p:cNvSpPr/>
          <p:nvPr/>
        </p:nvSpPr>
        <p:spPr>
          <a:xfrm>
            <a:off x="4975225" y="2074863"/>
            <a:ext cx="3740150" cy="149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反映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呼吸功能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酸碱平衡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动态：</a:t>
            </a:r>
            <a:endParaRPr lang="zh-CN" altLang="en-US" sz="18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①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细胞缺氧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pH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PaCO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↓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②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换气不足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PaCO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↑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③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过度换气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PaCO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↓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④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代酸代偿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PaCO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↓</a:t>
            </a:r>
            <a:endParaRPr lang="en-US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39" name="Rectangle 17"/>
          <p:cNvSpPr/>
          <p:nvPr/>
        </p:nvSpPr>
        <p:spPr>
          <a:xfrm>
            <a:off x="500063" y="4352925"/>
            <a:ext cx="3740150" cy="1784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可反映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相对血容量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右心功能</a:t>
            </a:r>
            <a:r>
              <a:rPr lang="zh-CN" altLang="en-US" sz="1800" b="1" dirty="0">
                <a:solidFill>
                  <a:srgbClr val="3E5FB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1800" b="1" dirty="0">
              <a:solidFill>
                <a:srgbClr val="3E5FB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正常值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10cmH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zh-CN" altLang="en-US" sz="17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常和动脉压结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合起来判断，以及作为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调整输液速度及补液量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的指标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0740" name="Picture 4" descr="中心静脉压测定装置"/>
          <p:cNvPicPr>
            <a:picLocks noChangeAspect="1"/>
          </p:cNvPicPr>
          <p:nvPr/>
        </p:nvPicPr>
        <p:blipFill>
          <a:blip r:embed="rId4"/>
          <a:srcRect t="5028" r="12204" b="9496"/>
          <a:stretch>
            <a:fillRect/>
          </a:stretch>
        </p:blipFill>
        <p:spPr>
          <a:xfrm>
            <a:off x="2786063" y="5000625"/>
            <a:ext cx="1714500" cy="1214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1" name="Rectangle 17"/>
          <p:cNvSpPr/>
          <p:nvPr/>
        </p:nvSpPr>
        <p:spPr>
          <a:xfrm>
            <a:off x="4929188" y="4357688"/>
            <a:ext cx="3740150" cy="1584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可反映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肺静脉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左心房和左心室的功能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状态：</a:t>
            </a:r>
            <a:endParaRPr lang="zh-CN" altLang="en-US" sz="18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正常值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</a:rPr>
              <a:t>15mmHg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7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：低于正常值→血容量不足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dirty="0">
                <a:latin typeface="宋体" panose="02010600030101010101" pitchFamily="2" charset="-122"/>
                <a:ea typeface="宋体" panose="02010600030101010101" pitchFamily="2" charset="-122"/>
              </a:rPr>
              <a:t>        高于正常值→左心房压力↑</a:t>
            </a:r>
            <a:endParaRPr lang="zh-CN" altLang="en-US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0742" name="Group 11"/>
          <p:cNvGrpSpPr/>
          <p:nvPr/>
        </p:nvGrpSpPr>
        <p:grpSpPr>
          <a:xfrm>
            <a:off x="4318000" y="2786063"/>
            <a:ext cx="611188" cy="608012"/>
            <a:chOff x="0" y="0"/>
            <a:chExt cx="385" cy="383"/>
          </a:xfrm>
        </p:grpSpPr>
        <p:sp>
          <p:nvSpPr>
            <p:cNvPr id="30743" name="Oval 12"/>
            <p:cNvSpPr/>
            <p:nvPr/>
          </p:nvSpPr>
          <p:spPr>
            <a:xfrm>
              <a:off x="0" y="0"/>
              <a:ext cx="385" cy="383"/>
            </a:xfrm>
            <a:prstGeom prst="ellipse">
              <a:avLst/>
            </a:prstGeom>
            <a:solidFill>
              <a:srgbClr val="80808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0744" name="Group 13"/>
            <p:cNvGrpSpPr/>
            <p:nvPr/>
          </p:nvGrpSpPr>
          <p:grpSpPr>
            <a:xfrm>
              <a:off x="8" y="6"/>
              <a:ext cx="369" cy="369"/>
              <a:chOff x="0" y="0"/>
              <a:chExt cx="369" cy="369"/>
            </a:xfrm>
          </p:grpSpPr>
          <p:sp>
            <p:nvSpPr>
              <p:cNvPr id="30745" name="Oval 14"/>
              <p:cNvSpPr/>
              <p:nvPr/>
            </p:nvSpPr>
            <p:spPr>
              <a:xfrm>
                <a:off x="0" y="0"/>
                <a:ext cx="369" cy="369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6" name="Oval 15"/>
              <p:cNvSpPr/>
              <p:nvPr/>
            </p:nvSpPr>
            <p:spPr>
              <a:xfrm>
                <a:off x="5" y="2"/>
                <a:ext cx="359" cy="360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7" name="Oval 16"/>
              <p:cNvSpPr/>
              <p:nvPr/>
            </p:nvSpPr>
            <p:spPr>
              <a:xfrm>
                <a:off x="9" y="5"/>
                <a:ext cx="342" cy="337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vert="eaVert"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48" name="Oval 17"/>
              <p:cNvSpPr/>
              <p:nvPr/>
            </p:nvSpPr>
            <p:spPr>
              <a:xfrm>
                <a:off x="17" y="39"/>
                <a:ext cx="305" cy="2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ea typeface="宋体" panose="02010600030101010101" pitchFamily="2" charset="-122"/>
                  </a:rPr>
                  <a:t>4</a:t>
                </a: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AutoShape 22"/>
          <p:cNvSpPr/>
          <p:nvPr/>
        </p:nvSpPr>
        <p:spPr>
          <a:xfrm>
            <a:off x="3071813" y="2714625"/>
            <a:ext cx="5000625" cy="512763"/>
          </a:xfrm>
          <a:prstGeom prst="roundRect">
            <a:avLst>
              <a:gd name="adj" fmla="val 11741"/>
            </a:avLst>
          </a:prstGeom>
          <a:gradFill rotWithShape="1">
            <a:gsLst>
              <a:gs pos="0">
                <a:srgbClr val="4694DA"/>
              </a:gs>
              <a:gs pos="50000">
                <a:srgbClr val="093B82"/>
              </a:gs>
              <a:gs pos="100000">
                <a:srgbClr val="4694DA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Freeform 18"/>
          <p:cNvSpPr/>
          <p:nvPr/>
        </p:nvSpPr>
        <p:spPr>
          <a:xfrm>
            <a:off x="2028825" y="1571625"/>
            <a:ext cx="1185863" cy="2301875"/>
          </a:xfrm>
          <a:custGeom>
            <a:avLst/>
            <a:gdLst>
              <a:gd name="txL" fmla="*/ 0 w 1134"/>
              <a:gd name="txT" fmla="*/ 0 h 1450"/>
              <a:gd name="txR" fmla="*/ 1134 w 1134"/>
              <a:gd name="txB" fmla="*/ 1450 h 1450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134" h="1450">
                <a:moveTo>
                  <a:pt x="1089" y="0"/>
                </a:moveTo>
                <a:lnTo>
                  <a:pt x="0" y="1450"/>
                </a:lnTo>
                <a:lnTo>
                  <a:pt x="1134" y="686"/>
                </a:lnTo>
                <a:lnTo>
                  <a:pt x="1089" y="0"/>
                </a:lnTo>
                <a:close/>
              </a:path>
            </a:pathLst>
          </a:custGeom>
          <a:gradFill rotWithShape="0">
            <a:gsLst>
              <a:gs pos="0">
                <a:srgbClr val="8ED5E6">
                  <a:alpha val="100000"/>
                </a:srgbClr>
              </a:gs>
              <a:gs pos="100000">
                <a:srgbClr val="00A0C6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48" name="Freeform 19"/>
          <p:cNvSpPr/>
          <p:nvPr/>
        </p:nvSpPr>
        <p:spPr>
          <a:xfrm>
            <a:off x="2051050" y="2786063"/>
            <a:ext cx="1235075" cy="1127125"/>
          </a:xfrm>
          <a:custGeom>
            <a:avLst/>
            <a:gdLst>
              <a:gd name="txL" fmla="*/ 0 w 1141"/>
              <a:gd name="txT" fmla="*/ 0 h 710"/>
              <a:gd name="txR" fmla="*/ 1141 w 1141"/>
              <a:gd name="txB" fmla="*/ 710 h 710"/>
            </a:gdLst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txL" t="txT" r="txR" b="txB"/>
            <a:pathLst>
              <a:path w="1141" h="710">
                <a:moveTo>
                  <a:pt x="1075" y="0"/>
                </a:moveTo>
                <a:lnTo>
                  <a:pt x="0" y="710"/>
                </a:lnTo>
                <a:lnTo>
                  <a:pt x="1141" y="665"/>
                </a:lnTo>
                <a:lnTo>
                  <a:pt x="1075" y="0"/>
                </a:lnTo>
                <a:close/>
              </a:path>
            </a:pathLst>
          </a:custGeom>
          <a:gradFill rotWithShape="0">
            <a:gsLst>
              <a:gs pos="0">
                <a:srgbClr val="8ED5E6">
                  <a:alpha val="100000"/>
                </a:srgbClr>
              </a:gs>
              <a:gs pos="100000">
                <a:srgbClr val="00A0C6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49" name="Freeform 20"/>
          <p:cNvSpPr/>
          <p:nvPr/>
        </p:nvSpPr>
        <p:spPr>
          <a:xfrm>
            <a:off x="2028825" y="3984625"/>
            <a:ext cx="1257300" cy="2230438"/>
          </a:xfrm>
          <a:custGeom>
            <a:avLst/>
            <a:gdLst>
              <a:gd name="txL" fmla="*/ 0 w 1134"/>
              <a:gd name="txT" fmla="*/ 0 h 1450"/>
              <a:gd name="txR" fmla="*/ 1134 w 1134"/>
              <a:gd name="txB" fmla="*/ 1450 h 1450"/>
            </a:gdLst>
            <a:ahLst/>
            <a:cxnLst>
              <a:cxn ang="0">
                <a:pos x="2147483646" y="2147483646"/>
              </a:cxn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34" h="1450">
                <a:moveTo>
                  <a:pt x="1099" y="1450"/>
                </a:moveTo>
                <a:lnTo>
                  <a:pt x="0" y="0"/>
                </a:lnTo>
                <a:lnTo>
                  <a:pt x="1134" y="764"/>
                </a:lnTo>
                <a:lnTo>
                  <a:pt x="1099" y="1450"/>
                </a:lnTo>
                <a:close/>
              </a:path>
            </a:pathLst>
          </a:custGeom>
          <a:gradFill rotWithShape="0">
            <a:gsLst>
              <a:gs pos="0">
                <a:srgbClr val="8ED5E6">
                  <a:alpha val="100000"/>
                </a:srgbClr>
              </a:gs>
              <a:gs pos="100000">
                <a:srgbClr val="00A0C6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50" name="Freeform 21"/>
          <p:cNvSpPr/>
          <p:nvPr/>
        </p:nvSpPr>
        <p:spPr>
          <a:xfrm>
            <a:off x="2028825" y="3902075"/>
            <a:ext cx="1257300" cy="1109663"/>
          </a:xfrm>
          <a:custGeom>
            <a:avLst/>
            <a:gdLst>
              <a:gd name="txL" fmla="*/ 0 w 1141"/>
              <a:gd name="txT" fmla="*/ 0 h 699"/>
              <a:gd name="txR" fmla="*/ 1141 w 1141"/>
              <a:gd name="txB" fmla="*/ 699 h 699"/>
            </a:gdLst>
            <a:ahLst/>
            <a:cxnLst>
              <a:cxn ang="0">
                <a:pos x="2147483646" y="2147483646"/>
              </a:cxn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41" h="699">
                <a:moveTo>
                  <a:pt x="1092" y="699"/>
                </a:moveTo>
                <a:lnTo>
                  <a:pt x="0" y="0"/>
                </a:lnTo>
                <a:lnTo>
                  <a:pt x="1141" y="45"/>
                </a:lnTo>
                <a:lnTo>
                  <a:pt x="1092" y="699"/>
                </a:lnTo>
                <a:close/>
              </a:path>
            </a:pathLst>
          </a:custGeom>
          <a:gradFill rotWithShape="0">
            <a:gsLst>
              <a:gs pos="0">
                <a:srgbClr val="8ED5E6">
                  <a:alpha val="100000"/>
                </a:srgbClr>
              </a:gs>
              <a:gs pos="100000">
                <a:srgbClr val="00A0C6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51" name="AutoShape 22"/>
          <p:cNvSpPr/>
          <p:nvPr/>
        </p:nvSpPr>
        <p:spPr>
          <a:xfrm>
            <a:off x="3071813" y="1571625"/>
            <a:ext cx="5000625" cy="512763"/>
          </a:xfrm>
          <a:prstGeom prst="roundRect">
            <a:avLst>
              <a:gd name="adj" fmla="val 11741"/>
            </a:avLst>
          </a:prstGeom>
          <a:gradFill rotWithShape="1">
            <a:gsLst>
              <a:gs pos="0">
                <a:srgbClr val="4694DA"/>
              </a:gs>
              <a:gs pos="50000">
                <a:srgbClr val="093B82"/>
              </a:gs>
              <a:gs pos="100000">
                <a:srgbClr val="4694DA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AutoShape 23"/>
          <p:cNvSpPr/>
          <p:nvPr/>
        </p:nvSpPr>
        <p:spPr>
          <a:xfrm>
            <a:off x="3095625" y="1609725"/>
            <a:ext cx="4905375" cy="1062038"/>
          </a:xfrm>
          <a:prstGeom prst="roundRect">
            <a:avLst>
              <a:gd name="adj" fmla="val 8676"/>
            </a:avLst>
          </a:prstGeom>
          <a:gradFill rotWithShape="1">
            <a:gsLst>
              <a:gs pos="0">
                <a:srgbClr val="0C4EB0"/>
              </a:gs>
              <a:gs pos="50000">
                <a:srgbClr val="093B82"/>
              </a:gs>
              <a:gs pos="100000">
                <a:srgbClr val="0C4EB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AutoShape 24"/>
          <p:cNvSpPr/>
          <p:nvPr/>
        </p:nvSpPr>
        <p:spPr>
          <a:xfrm>
            <a:off x="3114675" y="1643063"/>
            <a:ext cx="4886325" cy="1000125"/>
          </a:xfrm>
          <a:prstGeom prst="roundRect">
            <a:avLst>
              <a:gd name="adj" fmla="val 7718"/>
            </a:avLst>
          </a:prstGeom>
          <a:gradFill rotWithShape="1">
            <a:gsLst>
              <a:gs pos="0">
                <a:srgbClr val="F7FDFF"/>
              </a:gs>
              <a:gs pos="50000">
                <a:srgbClr val="BED9F2"/>
              </a:gs>
              <a:gs pos="100000">
                <a:srgbClr val="F7FDF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⑴尽快恢复有效循环血量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4" name="AutoShape 26"/>
          <p:cNvSpPr/>
          <p:nvPr/>
        </p:nvSpPr>
        <p:spPr>
          <a:xfrm>
            <a:off x="3095625" y="2784475"/>
            <a:ext cx="4905375" cy="1062038"/>
          </a:xfrm>
          <a:prstGeom prst="roundRect">
            <a:avLst>
              <a:gd name="adj" fmla="val 8676"/>
            </a:avLst>
          </a:prstGeom>
          <a:gradFill rotWithShape="1">
            <a:gsLst>
              <a:gs pos="0">
                <a:srgbClr val="0C4EB0"/>
              </a:gs>
              <a:gs pos="50000">
                <a:srgbClr val="093B82"/>
              </a:gs>
              <a:gs pos="100000">
                <a:srgbClr val="0C4EB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5" name="AutoShape 27"/>
          <p:cNvSpPr/>
          <p:nvPr/>
        </p:nvSpPr>
        <p:spPr>
          <a:xfrm>
            <a:off x="3114675" y="2820988"/>
            <a:ext cx="4886325" cy="989012"/>
          </a:xfrm>
          <a:prstGeom prst="roundRect">
            <a:avLst>
              <a:gd name="adj" fmla="val 7718"/>
            </a:avLst>
          </a:prstGeom>
          <a:gradFill rotWithShape="1">
            <a:gsLst>
              <a:gs pos="0">
                <a:srgbClr val="F7FDFF"/>
              </a:gs>
              <a:gs pos="50000">
                <a:srgbClr val="BED9F2"/>
              </a:gs>
              <a:gs pos="100000">
                <a:srgbClr val="F7FDF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⑵积极处理原发疾病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6" name="AutoShape 28"/>
          <p:cNvSpPr/>
          <p:nvPr/>
        </p:nvSpPr>
        <p:spPr>
          <a:xfrm>
            <a:off x="3071813" y="3924300"/>
            <a:ext cx="5000625" cy="511175"/>
          </a:xfrm>
          <a:prstGeom prst="roundRect">
            <a:avLst>
              <a:gd name="adj" fmla="val 11741"/>
            </a:avLst>
          </a:prstGeom>
          <a:gradFill rotWithShape="1">
            <a:gsLst>
              <a:gs pos="0">
                <a:srgbClr val="4694DA"/>
              </a:gs>
              <a:gs pos="50000">
                <a:srgbClr val="093B82"/>
              </a:gs>
              <a:gs pos="100000">
                <a:srgbClr val="4694DA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7" name="AutoShape 29"/>
          <p:cNvSpPr/>
          <p:nvPr/>
        </p:nvSpPr>
        <p:spPr>
          <a:xfrm>
            <a:off x="3095625" y="3962400"/>
            <a:ext cx="4905375" cy="1062038"/>
          </a:xfrm>
          <a:prstGeom prst="roundRect">
            <a:avLst>
              <a:gd name="adj" fmla="val 8676"/>
            </a:avLst>
          </a:prstGeom>
          <a:gradFill rotWithShape="1">
            <a:gsLst>
              <a:gs pos="0">
                <a:srgbClr val="0C4EB0"/>
              </a:gs>
              <a:gs pos="50000">
                <a:srgbClr val="093B82"/>
              </a:gs>
              <a:gs pos="100000">
                <a:srgbClr val="0C4EB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8" name="AutoShape 30"/>
          <p:cNvSpPr/>
          <p:nvPr/>
        </p:nvSpPr>
        <p:spPr>
          <a:xfrm>
            <a:off x="3114675" y="3998913"/>
            <a:ext cx="4886325" cy="989012"/>
          </a:xfrm>
          <a:prstGeom prst="roundRect">
            <a:avLst>
              <a:gd name="adj" fmla="val 7718"/>
            </a:avLst>
          </a:prstGeom>
          <a:gradFill rotWithShape="1">
            <a:gsLst>
              <a:gs pos="0">
                <a:srgbClr val="F7FDFF"/>
              </a:gs>
              <a:gs pos="50000">
                <a:srgbClr val="BED9F2"/>
              </a:gs>
              <a:gs pos="100000">
                <a:srgbClr val="F7FDF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⑶纠正微循环障碍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9" name="AutoShape 31"/>
          <p:cNvSpPr/>
          <p:nvPr/>
        </p:nvSpPr>
        <p:spPr>
          <a:xfrm>
            <a:off x="3071813" y="5100638"/>
            <a:ext cx="5000625" cy="512762"/>
          </a:xfrm>
          <a:prstGeom prst="roundRect">
            <a:avLst>
              <a:gd name="adj" fmla="val 11741"/>
            </a:avLst>
          </a:prstGeom>
          <a:gradFill rotWithShape="1">
            <a:gsLst>
              <a:gs pos="0">
                <a:srgbClr val="4694DA"/>
              </a:gs>
              <a:gs pos="50000">
                <a:srgbClr val="093B82"/>
              </a:gs>
              <a:gs pos="100000">
                <a:srgbClr val="4694DA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0" name="AutoShape 32"/>
          <p:cNvSpPr/>
          <p:nvPr/>
        </p:nvSpPr>
        <p:spPr>
          <a:xfrm>
            <a:off x="3095625" y="5138738"/>
            <a:ext cx="4833938" cy="1062037"/>
          </a:xfrm>
          <a:prstGeom prst="roundRect">
            <a:avLst>
              <a:gd name="adj" fmla="val 8676"/>
            </a:avLst>
          </a:prstGeom>
          <a:gradFill rotWithShape="1">
            <a:gsLst>
              <a:gs pos="0">
                <a:srgbClr val="0C4EB0"/>
              </a:gs>
              <a:gs pos="50000">
                <a:srgbClr val="093B82"/>
              </a:gs>
              <a:gs pos="100000">
                <a:srgbClr val="0C4EB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1" name="AutoShape 33"/>
          <p:cNvSpPr/>
          <p:nvPr/>
        </p:nvSpPr>
        <p:spPr>
          <a:xfrm>
            <a:off x="3114675" y="5175250"/>
            <a:ext cx="4886325" cy="989013"/>
          </a:xfrm>
          <a:prstGeom prst="roundRect">
            <a:avLst>
              <a:gd name="adj" fmla="val 7718"/>
            </a:avLst>
          </a:prstGeom>
          <a:gradFill rotWithShape="1">
            <a:gsLst>
              <a:gs pos="0">
                <a:srgbClr val="F7FDFF"/>
              </a:gs>
              <a:gs pos="50000">
                <a:srgbClr val="BED9F2"/>
              </a:gs>
              <a:gs pos="100000">
                <a:srgbClr val="F7FDF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⑷保护重要器官功能，预防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MODS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2" name="Oval 34"/>
          <p:cNvSpPr/>
          <p:nvPr/>
        </p:nvSpPr>
        <p:spPr>
          <a:xfrm>
            <a:off x="965200" y="2852738"/>
            <a:ext cx="2130425" cy="2127250"/>
          </a:xfrm>
          <a:prstGeom prst="ellipse">
            <a:avLst/>
          </a:prstGeom>
          <a:gradFill rotWithShape="1">
            <a:gsLst>
              <a:gs pos="0">
                <a:srgbClr val="03678F"/>
              </a:gs>
              <a:gs pos="100000">
                <a:srgbClr val="00A0C6"/>
              </a:gs>
            </a:gsLst>
            <a:lin ang="5400000" scaled="1"/>
            <a:tileRect/>
          </a:gradFill>
          <a:ln w="9525">
            <a:noFill/>
          </a:ln>
          <a:effectLst>
            <a:outerShdw dist="38100" dir="5400000" algn="ctr" rotWithShape="0">
              <a:srgbClr val="024560"/>
            </a:outerShdw>
          </a:effectLst>
        </p:spPr>
        <p:txBody>
          <a:bodyPr wrap="none" anchor="ctr" anchorCtr="0"/>
          <a:p>
            <a:pPr eaLnBrk="1" hangingPunct="1"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3" name="Oval 35"/>
          <p:cNvSpPr/>
          <p:nvPr/>
        </p:nvSpPr>
        <p:spPr>
          <a:xfrm>
            <a:off x="1011238" y="2897188"/>
            <a:ext cx="2038350" cy="2035175"/>
          </a:xfrm>
          <a:prstGeom prst="ellipse">
            <a:avLst/>
          </a:prstGeom>
          <a:gradFill rotWithShape="1">
            <a:gsLst>
              <a:gs pos="0">
                <a:srgbClr val="00A0C6"/>
              </a:gs>
              <a:gs pos="100000">
                <a:srgbClr val="03678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4" name="Oval 36"/>
          <p:cNvSpPr/>
          <p:nvPr/>
        </p:nvSpPr>
        <p:spPr>
          <a:xfrm>
            <a:off x="1055688" y="2941638"/>
            <a:ext cx="1946275" cy="1943100"/>
          </a:xfrm>
          <a:prstGeom prst="ellipse">
            <a:avLst/>
          </a:prstGeom>
          <a:gradFill rotWithShape="1">
            <a:gsLst>
              <a:gs pos="0">
                <a:srgbClr val="03678F"/>
              </a:gs>
              <a:gs pos="100000">
                <a:srgbClr val="00A0C6"/>
              </a:gs>
            </a:gsLst>
            <a:lin ang="5400000" scaled="1"/>
            <a:tileRect/>
          </a:gradFill>
          <a:ln w="9525">
            <a:noFill/>
          </a:ln>
          <a:effectLst>
            <a:outerShdw dist="25400" dir="16200000" algn="ctr" rotWithShape="0">
              <a:srgbClr val="9CDB2C"/>
            </a:outerShdw>
          </a:effectLst>
        </p:spPr>
        <p:txBody>
          <a:bodyPr wrap="none" anchor="ctr" anchorCtr="0"/>
          <a:p>
            <a:pPr algn="ctr" eaLnBrk="1" latinLnBrk="1" hangingPunct="1">
              <a:spcAft>
                <a:spcPts val="1200"/>
              </a:spcAft>
              <a:buNone/>
            </a:pPr>
            <a:endParaRPr lang="zh-CN" altLang="en-US" sz="2800" b="1" dirty="0">
              <a:solidFill>
                <a:schemeClr val="bg1"/>
              </a:solidFill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31765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护理评估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66" name="TextBox 28"/>
          <p:cNvSpPr txBox="1"/>
          <p:nvPr/>
        </p:nvSpPr>
        <p:spPr>
          <a:xfrm>
            <a:off x="1143000" y="3286125"/>
            <a:ext cx="1643063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5.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处理原则</a:t>
            </a:r>
            <a:endParaRPr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AutoShape 2" descr="좁은 수평선"/>
          <p:cNvSpPr/>
          <p:nvPr/>
        </p:nvSpPr>
        <p:spPr>
          <a:xfrm>
            <a:off x="1731963" y="16748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1"/>
          </a:blipFill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AutoShape 3"/>
          <p:cNvSpPr/>
          <p:nvPr/>
        </p:nvSpPr>
        <p:spPr>
          <a:xfrm>
            <a:off x="1830388" y="176053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008B45"/>
          </a:solidFill>
          <a:ln w="38100" cap="flat" cmpd="sng">
            <a:solidFill>
              <a:srgbClr val="13131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AutoShape 4" descr="좁은 수평선"/>
          <p:cNvSpPr/>
          <p:nvPr/>
        </p:nvSpPr>
        <p:spPr>
          <a:xfrm>
            <a:off x="1741488" y="26844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AutoShape 5"/>
          <p:cNvSpPr/>
          <p:nvPr/>
        </p:nvSpPr>
        <p:spPr>
          <a:xfrm>
            <a:off x="1839913" y="277018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B3773B"/>
          </a:soli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AutoShape 6" descr="좁은 수평선"/>
          <p:cNvSpPr/>
          <p:nvPr/>
        </p:nvSpPr>
        <p:spPr>
          <a:xfrm>
            <a:off x="1751013" y="36941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AutoShape 7"/>
          <p:cNvSpPr/>
          <p:nvPr/>
        </p:nvSpPr>
        <p:spPr>
          <a:xfrm>
            <a:off x="1849438" y="377983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02C4DE"/>
              </a:gs>
              <a:gs pos="100000">
                <a:srgbClr val="015B67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AutoShape 8" descr="좁은 수평선"/>
          <p:cNvSpPr/>
          <p:nvPr/>
        </p:nvSpPr>
        <p:spPr>
          <a:xfrm>
            <a:off x="1746250" y="47037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AutoShape 9"/>
          <p:cNvSpPr/>
          <p:nvPr/>
        </p:nvSpPr>
        <p:spPr>
          <a:xfrm>
            <a:off x="1844675" y="478948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99FF"/>
              </a:gs>
              <a:gs pos="100000">
                <a:srgbClr val="184776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2286000" y="1879600"/>
            <a:ext cx="4230688" cy="40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99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1.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0099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概念及病理生理 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00994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2286000" y="2876550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B3773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2.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B3773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护理评估</a:t>
            </a:r>
            <a:endParaRPr kumimoji="0" lang="ko-KR" altLang="en-US" sz="3500" b="1" i="0" u="none" strike="noStrike" kern="1200" cap="none" spc="0" normalizeH="0" baseline="0" noProof="0">
              <a:ln>
                <a:noFill/>
              </a:ln>
              <a:solidFill>
                <a:srgbClr val="B3773B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2286000" y="3857625"/>
            <a:ext cx="4373563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3.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常见护理诊断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问题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2286000" y="4906963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4.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护理措施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7386C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Freeform 2"/>
          <p:cNvSpPr/>
          <p:nvPr/>
        </p:nvSpPr>
        <p:spPr bwMode="auto">
          <a:xfrm>
            <a:off x="1630363" y="4978400"/>
            <a:ext cx="6584950" cy="568325"/>
          </a:xfrm>
          <a:custGeom>
            <a:avLst/>
            <a:gdLst>
              <a:gd name="T0" fmla="*/ 0 w 2856"/>
              <a:gd name="T1" fmla="*/ 5 h 358"/>
              <a:gd name="T2" fmla="*/ 0 w 2856"/>
              <a:gd name="T3" fmla="*/ 357 h 358"/>
              <a:gd name="T4" fmla="*/ 2667 w 2856"/>
              <a:gd name="T5" fmla="*/ 357 h 358"/>
              <a:gd name="T6" fmla="*/ 2854 w 2856"/>
              <a:gd name="T7" fmla="*/ 182 h 358"/>
              <a:gd name="T8" fmla="*/ 2667 w 2856"/>
              <a:gd name="T9" fmla="*/ 0 h 358"/>
              <a:gd name="T10" fmla="*/ 0 w 2856"/>
              <a:gd name="T11" fmla="*/ 5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56"/>
              <a:gd name="T19" fmla="*/ 0 h 358"/>
              <a:gd name="T20" fmla="*/ 2856 w 2856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56" h="358">
                <a:moveTo>
                  <a:pt x="0" y="5"/>
                </a:moveTo>
                <a:lnTo>
                  <a:pt x="0" y="357"/>
                </a:lnTo>
                <a:cubicBezTo>
                  <a:pt x="97" y="358"/>
                  <a:pt x="2594" y="357"/>
                  <a:pt x="2667" y="357"/>
                </a:cubicBezTo>
                <a:cubicBezTo>
                  <a:pt x="2739" y="357"/>
                  <a:pt x="2851" y="321"/>
                  <a:pt x="2854" y="182"/>
                </a:cubicBezTo>
                <a:cubicBezTo>
                  <a:pt x="2856" y="43"/>
                  <a:pt x="2755" y="0"/>
                  <a:pt x="2667" y="0"/>
                </a:cubicBezTo>
                <a:cubicBezTo>
                  <a:pt x="2579" y="0"/>
                  <a:pt x="95" y="5"/>
                  <a:pt x="0" y="5"/>
                </a:cubicBezTo>
                <a:close/>
              </a:path>
            </a:pathLst>
          </a:custGeom>
          <a:gradFill rotWithShape="1">
            <a:gsLst>
              <a:gs pos="0">
                <a:srgbClr val="007FA9"/>
              </a:gs>
              <a:gs pos="50000">
                <a:schemeClr val="folHlink"/>
              </a:gs>
              <a:gs pos="100000">
                <a:srgbClr val="007FA9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Freeform 3"/>
          <p:cNvSpPr/>
          <p:nvPr/>
        </p:nvSpPr>
        <p:spPr bwMode="auto">
          <a:xfrm>
            <a:off x="928688" y="4978400"/>
            <a:ext cx="609600" cy="568325"/>
          </a:xfrm>
          <a:custGeom>
            <a:avLst/>
            <a:gdLst>
              <a:gd name="T0" fmla="*/ 372 w 372"/>
              <a:gd name="T1" fmla="*/ 1 h 358"/>
              <a:gd name="T2" fmla="*/ 372 w 372"/>
              <a:gd name="T3" fmla="*/ 358 h 358"/>
              <a:gd name="T4" fmla="*/ 165 w 372"/>
              <a:gd name="T5" fmla="*/ 357 h 358"/>
              <a:gd name="T6" fmla="*/ 0 w 372"/>
              <a:gd name="T7" fmla="*/ 181 h 358"/>
              <a:gd name="T8" fmla="*/ 164 w 372"/>
              <a:gd name="T9" fmla="*/ 1 h 358"/>
              <a:gd name="T10" fmla="*/ 372 w 372"/>
              <a:gd name="T11" fmla="*/ 1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2"/>
              <a:gd name="T19" fmla="*/ 0 h 358"/>
              <a:gd name="T20" fmla="*/ 372 w 372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2" h="358">
                <a:moveTo>
                  <a:pt x="372" y="1"/>
                </a:moveTo>
                <a:cubicBezTo>
                  <a:pt x="372" y="179"/>
                  <a:pt x="372" y="358"/>
                  <a:pt x="372" y="358"/>
                </a:cubicBezTo>
                <a:lnTo>
                  <a:pt x="165" y="357"/>
                </a:lnTo>
                <a:cubicBezTo>
                  <a:pt x="137" y="357"/>
                  <a:pt x="0" y="316"/>
                  <a:pt x="0" y="181"/>
                </a:cubicBezTo>
                <a:cubicBezTo>
                  <a:pt x="0" y="46"/>
                  <a:pt x="126" y="0"/>
                  <a:pt x="164" y="1"/>
                </a:cubicBezTo>
                <a:lnTo>
                  <a:pt x="372" y="1"/>
                </a:lnTo>
                <a:close/>
              </a:path>
            </a:pathLst>
          </a:custGeom>
          <a:gradFill rotWithShape="1">
            <a:gsLst>
              <a:gs pos="0">
                <a:srgbClr val="007DA7"/>
              </a:gs>
              <a:gs pos="50000">
                <a:schemeClr val="folHlink"/>
              </a:gs>
              <a:gs pos="100000">
                <a:srgbClr val="007DA7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Freeform 4"/>
          <p:cNvSpPr/>
          <p:nvPr/>
        </p:nvSpPr>
        <p:spPr bwMode="auto">
          <a:xfrm>
            <a:off x="1630363" y="4019550"/>
            <a:ext cx="6727825" cy="568325"/>
          </a:xfrm>
          <a:custGeom>
            <a:avLst/>
            <a:gdLst>
              <a:gd name="T0" fmla="*/ 0 w 2856"/>
              <a:gd name="T1" fmla="*/ 5 h 358"/>
              <a:gd name="T2" fmla="*/ 0 w 2856"/>
              <a:gd name="T3" fmla="*/ 357 h 358"/>
              <a:gd name="T4" fmla="*/ 2667 w 2856"/>
              <a:gd name="T5" fmla="*/ 357 h 358"/>
              <a:gd name="T6" fmla="*/ 2854 w 2856"/>
              <a:gd name="T7" fmla="*/ 182 h 358"/>
              <a:gd name="T8" fmla="*/ 2667 w 2856"/>
              <a:gd name="T9" fmla="*/ 0 h 358"/>
              <a:gd name="T10" fmla="*/ 0 w 2856"/>
              <a:gd name="T11" fmla="*/ 5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56"/>
              <a:gd name="T19" fmla="*/ 0 h 358"/>
              <a:gd name="T20" fmla="*/ 2856 w 2856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56" h="358">
                <a:moveTo>
                  <a:pt x="0" y="5"/>
                </a:moveTo>
                <a:lnTo>
                  <a:pt x="0" y="357"/>
                </a:lnTo>
                <a:cubicBezTo>
                  <a:pt x="97" y="358"/>
                  <a:pt x="2594" y="357"/>
                  <a:pt x="2667" y="357"/>
                </a:cubicBezTo>
                <a:cubicBezTo>
                  <a:pt x="2739" y="357"/>
                  <a:pt x="2851" y="321"/>
                  <a:pt x="2854" y="182"/>
                </a:cubicBezTo>
                <a:cubicBezTo>
                  <a:pt x="2856" y="43"/>
                  <a:pt x="2755" y="0"/>
                  <a:pt x="2667" y="0"/>
                </a:cubicBezTo>
                <a:cubicBezTo>
                  <a:pt x="2579" y="0"/>
                  <a:pt x="95" y="5"/>
                  <a:pt x="0" y="5"/>
                </a:cubicBezTo>
                <a:close/>
              </a:path>
            </a:pathLst>
          </a:custGeom>
          <a:gradFill rotWithShape="1">
            <a:gsLst>
              <a:gs pos="0">
                <a:srgbClr val="807D3C"/>
              </a:gs>
              <a:gs pos="50000">
                <a:schemeClr val="hlink"/>
              </a:gs>
              <a:gs pos="100000">
                <a:srgbClr val="807D3C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1" name="Freeform 5"/>
          <p:cNvSpPr/>
          <p:nvPr/>
        </p:nvSpPr>
        <p:spPr bwMode="auto">
          <a:xfrm>
            <a:off x="928688" y="4019550"/>
            <a:ext cx="609600" cy="568325"/>
          </a:xfrm>
          <a:custGeom>
            <a:avLst/>
            <a:gdLst>
              <a:gd name="T0" fmla="*/ 372 w 372"/>
              <a:gd name="T1" fmla="*/ 1 h 358"/>
              <a:gd name="T2" fmla="*/ 372 w 372"/>
              <a:gd name="T3" fmla="*/ 358 h 358"/>
              <a:gd name="T4" fmla="*/ 165 w 372"/>
              <a:gd name="T5" fmla="*/ 357 h 358"/>
              <a:gd name="T6" fmla="*/ 0 w 372"/>
              <a:gd name="T7" fmla="*/ 181 h 358"/>
              <a:gd name="T8" fmla="*/ 164 w 372"/>
              <a:gd name="T9" fmla="*/ 1 h 358"/>
              <a:gd name="T10" fmla="*/ 372 w 372"/>
              <a:gd name="T11" fmla="*/ 1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2"/>
              <a:gd name="T19" fmla="*/ 0 h 358"/>
              <a:gd name="T20" fmla="*/ 372 w 372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2" h="358">
                <a:moveTo>
                  <a:pt x="372" y="1"/>
                </a:moveTo>
                <a:cubicBezTo>
                  <a:pt x="372" y="179"/>
                  <a:pt x="372" y="358"/>
                  <a:pt x="372" y="358"/>
                </a:cubicBezTo>
                <a:lnTo>
                  <a:pt x="165" y="357"/>
                </a:lnTo>
                <a:cubicBezTo>
                  <a:pt x="137" y="357"/>
                  <a:pt x="0" y="316"/>
                  <a:pt x="0" y="181"/>
                </a:cubicBezTo>
                <a:cubicBezTo>
                  <a:pt x="0" y="46"/>
                  <a:pt x="126" y="0"/>
                  <a:pt x="164" y="1"/>
                </a:cubicBezTo>
                <a:lnTo>
                  <a:pt x="372" y="1"/>
                </a:lnTo>
                <a:close/>
              </a:path>
            </a:pathLst>
          </a:custGeom>
          <a:gradFill rotWithShape="1">
            <a:gsLst>
              <a:gs pos="0">
                <a:srgbClr val="908D43"/>
              </a:gs>
              <a:gs pos="50000">
                <a:schemeClr val="hlink"/>
              </a:gs>
              <a:gs pos="100000">
                <a:srgbClr val="908D43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8" name="Text Box 6"/>
          <p:cNvSpPr txBox="1"/>
          <p:nvPr/>
        </p:nvSpPr>
        <p:spPr>
          <a:xfrm>
            <a:off x="1627188" y="4078288"/>
            <a:ext cx="5730875" cy="461962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恐惧  与病情危重、担心预后等因素有关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Freeform 7"/>
          <p:cNvSpPr/>
          <p:nvPr/>
        </p:nvSpPr>
        <p:spPr bwMode="auto">
          <a:xfrm>
            <a:off x="1630363" y="3054350"/>
            <a:ext cx="6727825" cy="568325"/>
          </a:xfrm>
          <a:custGeom>
            <a:avLst/>
            <a:gdLst>
              <a:gd name="T0" fmla="*/ 0 w 2856"/>
              <a:gd name="T1" fmla="*/ 5 h 358"/>
              <a:gd name="T2" fmla="*/ 0 w 2856"/>
              <a:gd name="T3" fmla="*/ 357 h 358"/>
              <a:gd name="T4" fmla="*/ 2667 w 2856"/>
              <a:gd name="T5" fmla="*/ 357 h 358"/>
              <a:gd name="T6" fmla="*/ 2854 w 2856"/>
              <a:gd name="T7" fmla="*/ 182 h 358"/>
              <a:gd name="T8" fmla="*/ 2667 w 2856"/>
              <a:gd name="T9" fmla="*/ 0 h 358"/>
              <a:gd name="T10" fmla="*/ 0 w 2856"/>
              <a:gd name="T11" fmla="*/ 5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56"/>
              <a:gd name="T19" fmla="*/ 0 h 358"/>
              <a:gd name="T20" fmla="*/ 2856 w 2856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56" h="358">
                <a:moveTo>
                  <a:pt x="0" y="5"/>
                </a:moveTo>
                <a:lnTo>
                  <a:pt x="0" y="357"/>
                </a:lnTo>
                <a:cubicBezTo>
                  <a:pt x="97" y="358"/>
                  <a:pt x="2594" y="357"/>
                  <a:pt x="2667" y="357"/>
                </a:cubicBezTo>
                <a:cubicBezTo>
                  <a:pt x="2739" y="357"/>
                  <a:pt x="2851" y="321"/>
                  <a:pt x="2854" y="182"/>
                </a:cubicBezTo>
                <a:cubicBezTo>
                  <a:pt x="2856" y="43"/>
                  <a:pt x="2755" y="0"/>
                  <a:pt x="2667" y="0"/>
                </a:cubicBezTo>
                <a:cubicBezTo>
                  <a:pt x="2579" y="0"/>
                  <a:pt x="95" y="5"/>
                  <a:pt x="0" y="5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50000">
                <a:srgbClr val="97AADB"/>
              </a:gs>
              <a:gs pos="100000">
                <a:schemeClr val="accent1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4" name="Freeform 8"/>
          <p:cNvSpPr/>
          <p:nvPr/>
        </p:nvSpPr>
        <p:spPr bwMode="auto">
          <a:xfrm>
            <a:off x="928688" y="3054350"/>
            <a:ext cx="609600" cy="568325"/>
          </a:xfrm>
          <a:custGeom>
            <a:avLst/>
            <a:gdLst>
              <a:gd name="T0" fmla="*/ 372 w 372"/>
              <a:gd name="T1" fmla="*/ 1 h 358"/>
              <a:gd name="T2" fmla="*/ 372 w 372"/>
              <a:gd name="T3" fmla="*/ 358 h 358"/>
              <a:gd name="T4" fmla="*/ 165 w 372"/>
              <a:gd name="T5" fmla="*/ 357 h 358"/>
              <a:gd name="T6" fmla="*/ 0 w 372"/>
              <a:gd name="T7" fmla="*/ 181 h 358"/>
              <a:gd name="T8" fmla="*/ 164 w 372"/>
              <a:gd name="T9" fmla="*/ 1 h 358"/>
              <a:gd name="T10" fmla="*/ 372 w 372"/>
              <a:gd name="T11" fmla="*/ 1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2"/>
              <a:gd name="T19" fmla="*/ 0 h 358"/>
              <a:gd name="T20" fmla="*/ 372 w 372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2" h="358">
                <a:moveTo>
                  <a:pt x="372" y="1"/>
                </a:moveTo>
                <a:cubicBezTo>
                  <a:pt x="372" y="179"/>
                  <a:pt x="372" y="358"/>
                  <a:pt x="372" y="358"/>
                </a:cubicBezTo>
                <a:lnTo>
                  <a:pt x="165" y="357"/>
                </a:lnTo>
                <a:cubicBezTo>
                  <a:pt x="137" y="357"/>
                  <a:pt x="0" y="316"/>
                  <a:pt x="0" y="181"/>
                </a:cubicBezTo>
                <a:cubicBezTo>
                  <a:pt x="0" y="46"/>
                  <a:pt x="126" y="0"/>
                  <a:pt x="164" y="1"/>
                </a:cubicBezTo>
                <a:lnTo>
                  <a:pt x="372" y="1"/>
                </a:ln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50000">
                <a:srgbClr val="97AADB"/>
              </a:gs>
              <a:gs pos="100000">
                <a:schemeClr val="accent1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5" name="Freeform 9"/>
          <p:cNvSpPr/>
          <p:nvPr/>
        </p:nvSpPr>
        <p:spPr bwMode="auto">
          <a:xfrm>
            <a:off x="1630363" y="2124075"/>
            <a:ext cx="6727825" cy="568325"/>
          </a:xfrm>
          <a:custGeom>
            <a:avLst/>
            <a:gdLst>
              <a:gd name="T0" fmla="*/ 0 w 2856"/>
              <a:gd name="T1" fmla="*/ 5 h 358"/>
              <a:gd name="T2" fmla="*/ 0 w 2856"/>
              <a:gd name="T3" fmla="*/ 357 h 358"/>
              <a:gd name="T4" fmla="*/ 2667 w 2856"/>
              <a:gd name="T5" fmla="*/ 357 h 358"/>
              <a:gd name="T6" fmla="*/ 2854 w 2856"/>
              <a:gd name="T7" fmla="*/ 182 h 358"/>
              <a:gd name="T8" fmla="*/ 2667 w 2856"/>
              <a:gd name="T9" fmla="*/ 0 h 358"/>
              <a:gd name="T10" fmla="*/ 0 w 2856"/>
              <a:gd name="T11" fmla="*/ 5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56"/>
              <a:gd name="T19" fmla="*/ 0 h 358"/>
              <a:gd name="T20" fmla="*/ 2856 w 2856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56" h="358">
                <a:moveTo>
                  <a:pt x="0" y="5"/>
                </a:moveTo>
                <a:lnTo>
                  <a:pt x="0" y="357"/>
                </a:lnTo>
                <a:cubicBezTo>
                  <a:pt x="97" y="358"/>
                  <a:pt x="2594" y="357"/>
                  <a:pt x="2667" y="357"/>
                </a:cubicBezTo>
                <a:cubicBezTo>
                  <a:pt x="2739" y="357"/>
                  <a:pt x="2851" y="321"/>
                  <a:pt x="2854" y="182"/>
                </a:cubicBezTo>
                <a:cubicBezTo>
                  <a:pt x="2856" y="43"/>
                  <a:pt x="2755" y="0"/>
                  <a:pt x="2667" y="0"/>
                </a:cubicBezTo>
                <a:cubicBezTo>
                  <a:pt x="2579" y="0"/>
                  <a:pt x="95" y="5"/>
                  <a:pt x="0" y="5"/>
                </a:cubicBezTo>
                <a:close/>
              </a:path>
            </a:pathLst>
          </a:custGeom>
          <a:gradFill rotWithShape="1">
            <a:gsLst>
              <a:gs pos="0">
                <a:srgbClr val="00A754"/>
              </a:gs>
              <a:gs pos="50000">
                <a:schemeClr val="accent2"/>
              </a:gs>
              <a:gs pos="100000">
                <a:srgbClr val="00A754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6" name="Freeform 10"/>
          <p:cNvSpPr/>
          <p:nvPr/>
        </p:nvSpPr>
        <p:spPr bwMode="auto">
          <a:xfrm>
            <a:off x="928688" y="2124075"/>
            <a:ext cx="609600" cy="568325"/>
          </a:xfrm>
          <a:custGeom>
            <a:avLst/>
            <a:gdLst>
              <a:gd name="T0" fmla="*/ 372 w 372"/>
              <a:gd name="T1" fmla="*/ 1 h 358"/>
              <a:gd name="T2" fmla="*/ 372 w 372"/>
              <a:gd name="T3" fmla="*/ 358 h 358"/>
              <a:gd name="T4" fmla="*/ 165 w 372"/>
              <a:gd name="T5" fmla="*/ 357 h 358"/>
              <a:gd name="T6" fmla="*/ 0 w 372"/>
              <a:gd name="T7" fmla="*/ 181 h 358"/>
              <a:gd name="T8" fmla="*/ 164 w 372"/>
              <a:gd name="T9" fmla="*/ 1 h 358"/>
              <a:gd name="T10" fmla="*/ 372 w 372"/>
              <a:gd name="T11" fmla="*/ 1 h 3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72"/>
              <a:gd name="T19" fmla="*/ 0 h 358"/>
              <a:gd name="T20" fmla="*/ 372 w 372"/>
              <a:gd name="T21" fmla="*/ 358 h 3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72" h="358">
                <a:moveTo>
                  <a:pt x="372" y="1"/>
                </a:moveTo>
                <a:cubicBezTo>
                  <a:pt x="372" y="179"/>
                  <a:pt x="372" y="358"/>
                  <a:pt x="372" y="358"/>
                </a:cubicBezTo>
                <a:lnTo>
                  <a:pt x="165" y="357"/>
                </a:lnTo>
                <a:cubicBezTo>
                  <a:pt x="137" y="357"/>
                  <a:pt x="0" y="316"/>
                  <a:pt x="0" y="181"/>
                </a:cubicBezTo>
                <a:cubicBezTo>
                  <a:pt x="0" y="46"/>
                  <a:pt x="126" y="0"/>
                  <a:pt x="164" y="1"/>
                </a:cubicBezTo>
                <a:lnTo>
                  <a:pt x="372" y="1"/>
                </a:lnTo>
                <a:close/>
              </a:path>
            </a:pathLst>
          </a:custGeom>
          <a:gradFill rotWithShape="1">
            <a:gsLst>
              <a:gs pos="0">
                <a:srgbClr val="00A754"/>
              </a:gs>
              <a:gs pos="50000">
                <a:schemeClr val="accent2"/>
              </a:gs>
              <a:gs pos="100000">
                <a:srgbClr val="00A754"/>
              </a:gs>
            </a:gsLst>
            <a:lin ang="5400000" scaled="1"/>
          </a:gradFill>
          <a:ln w="28575" cmpd="sng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803" name="Text Box 11"/>
          <p:cNvSpPr txBox="1"/>
          <p:nvPr/>
        </p:nvSpPr>
        <p:spPr>
          <a:xfrm>
            <a:off x="1627188" y="2189163"/>
            <a:ext cx="4808537" cy="461962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体液不足  与大量失血、失液有关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4" name="Text Box 12"/>
          <p:cNvSpPr txBox="1"/>
          <p:nvPr/>
        </p:nvSpPr>
        <p:spPr>
          <a:xfrm>
            <a:off x="1627188" y="3113088"/>
            <a:ext cx="6731000" cy="461962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气体交换障碍  与微循环障碍、呼吸等因素有关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5" name="Text Box 13"/>
          <p:cNvSpPr txBox="1"/>
          <p:nvPr/>
        </p:nvSpPr>
        <p:spPr>
          <a:xfrm>
            <a:off x="1627188" y="5046663"/>
            <a:ext cx="5730875" cy="461962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潜在并发症：感染、受伤、压疮、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MODS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6" name="Text Box 14"/>
          <p:cNvSpPr txBox="1"/>
          <p:nvPr/>
        </p:nvSpPr>
        <p:spPr>
          <a:xfrm>
            <a:off x="1062038" y="2076450"/>
            <a:ext cx="304800" cy="641350"/>
          </a:xfrm>
          <a:prstGeom prst="rect">
            <a:avLst/>
          </a:prstGeom>
          <a:noFill/>
          <a:ln w="9525">
            <a:noFill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7" name="Text Box 15"/>
          <p:cNvSpPr txBox="1"/>
          <p:nvPr/>
        </p:nvSpPr>
        <p:spPr>
          <a:xfrm>
            <a:off x="1062038" y="3016250"/>
            <a:ext cx="304800" cy="641350"/>
          </a:xfrm>
          <a:prstGeom prst="rect">
            <a:avLst/>
          </a:prstGeom>
          <a:noFill/>
          <a:ln w="9525">
            <a:noFill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8" name="Text Box 16"/>
          <p:cNvSpPr txBox="1"/>
          <p:nvPr/>
        </p:nvSpPr>
        <p:spPr>
          <a:xfrm>
            <a:off x="1062038" y="3968750"/>
            <a:ext cx="304800" cy="641350"/>
          </a:xfrm>
          <a:prstGeom prst="rect">
            <a:avLst/>
          </a:prstGeom>
          <a:noFill/>
          <a:ln w="9525">
            <a:noFill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09" name="Text Box 17"/>
          <p:cNvSpPr txBox="1"/>
          <p:nvPr/>
        </p:nvSpPr>
        <p:spPr>
          <a:xfrm>
            <a:off x="1052513" y="4930775"/>
            <a:ext cx="304800" cy="641350"/>
          </a:xfrm>
          <a:prstGeom prst="rect">
            <a:avLst/>
          </a:prstGeom>
          <a:noFill/>
          <a:ln w="9525">
            <a:noFill/>
          </a:ln>
          <a:effectLst>
            <a:outerShdw dist="28398" dir="1593903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en-US" altLang="zh-CN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810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常见护理诊断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问题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AutoShape 2" descr="좁은 수평선"/>
          <p:cNvSpPr/>
          <p:nvPr/>
        </p:nvSpPr>
        <p:spPr>
          <a:xfrm>
            <a:off x="1731963" y="16748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1"/>
          </a:blipFill>
          <a:ln w="127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AutoShape 3"/>
          <p:cNvSpPr/>
          <p:nvPr/>
        </p:nvSpPr>
        <p:spPr>
          <a:xfrm>
            <a:off x="1830388" y="176053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008B45"/>
          </a:solidFill>
          <a:ln w="38100" cap="flat" cmpd="sng">
            <a:solidFill>
              <a:srgbClr val="131313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AutoShape 4" descr="좁은 수평선"/>
          <p:cNvSpPr/>
          <p:nvPr/>
        </p:nvSpPr>
        <p:spPr>
          <a:xfrm>
            <a:off x="1741488" y="26844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AutoShape 5"/>
          <p:cNvSpPr/>
          <p:nvPr/>
        </p:nvSpPr>
        <p:spPr>
          <a:xfrm>
            <a:off x="1839913" y="2770188"/>
            <a:ext cx="5143500" cy="679450"/>
          </a:xfrm>
          <a:prstGeom prst="roundRect">
            <a:avLst>
              <a:gd name="adj" fmla="val 50000"/>
            </a:avLst>
          </a:prstGeom>
          <a:solidFill>
            <a:srgbClr val="B3773B"/>
          </a:soli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AutoShape 6" descr="좁은 수평선"/>
          <p:cNvSpPr/>
          <p:nvPr/>
        </p:nvSpPr>
        <p:spPr>
          <a:xfrm>
            <a:off x="1751013" y="369411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AutoShape 7"/>
          <p:cNvSpPr/>
          <p:nvPr/>
        </p:nvSpPr>
        <p:spPr>
          <a:xfrm>
            <a:off x="1849438" y="377983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02C4DE"/>
              </a:gs>
              <a:gs pos="100000">
                <a:srgbClr val="015B67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AutoShape 8" descr="좁은 수평선"/>
          <p:cNvSpPr/>
          <p:nvPr/>
        </p:nvSpPr>
        <p:spPr>
          <a:xfrm>
            <a:off x="1746250" y="4703763"/>
            <a:ext cx="5337175" cy="857250"/>
          </a:xfrm>
          <a:prstGeom prst="roundRect">
            <a:avLst>
              <a:gd name="adj" fmla="val 50000"/>
            </a:avLst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5" name="AutoShape 9"/>
          <p:cNvSpPr/>
          <p:nvPr/>
        </p:nvSpPr>
        <p:spPr>
          <a:xfrm>
            <a:off x="1844675" y="4789488"/>
            <a:ext cx="5143500" cy="67945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99FF"/>
              </a:gs>
              <a:gs pos="100000">
                <a:srgbClr val="184776"/>
              </a:gs>
            </a:gsLst>
            <a:lin ang="5400000" scaled="1"/>
            <a:tileRect/>
          </a:gradFill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0" name="Rectangle 10"/>
          <p:cNvSpPr>
            <a:spLocks noChangeArrowheads="1"/>
          </p:cNvSpPr>
          <p:nvPr/>
        </p:nvSpPr>
        <p:spPr bwMode="auto">
          <a:xfrm>
            <a:off x="2286000" y="1879600"/>
            <a:ext cx="4230688" cy="40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0099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1.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00994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概念及病理生理 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00994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2286000" y="2876550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B3773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2. 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B3773B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护理评估</a:t>
            </a:r>
            <a:endParaRPr kumimoji="0" lang="ko-KR" altLang="en-US" sz="3500" b="1" i="0" u="none" strike="noStrike" kern="1200" cap="none" spc="0" normalizeH="0" baseline="0" noProof="0">
              <a:ln>
                <a:noFill/>
              </a:ln>
              <a:solidFill>
                <a:srgbClr val="B3773B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2286000" y="3857625"/>
            <a:ext cx="4373563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3.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常见护理诊断</a:t>
            </a: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rgbClr val="7386C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问题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rgbClr val="7386C4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2286000" y="4906963"/>
            <a:ext cx="3633788" cy="4032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Gulim" pitchFamily="34" charset="-127"/>
                <a:cs typeface="+mn-cs"/>
              </a:rPr>
              <a:t>4.</a:t>
            </a:r>
            <a:r>
              <a:rPr kumimoji="0" lang="zh-CN" altLang="en-US" sz="35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护理措施</a:t>
            </a:r>
            <a:endParaRPr kumimoji="0" lang="en-US" sz="35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2" name="Picture 2" descr="h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0" y="1428750"/>
            <a:ext cx="1292225" cy="48577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5843" name="Group 3"/>
          <p:cNvGrpSpPr/>
          <p:nvPr/>
        </p:nvGrpSpPr>
        <p:grpSpPr>
          <a:xfrm>
            <a:off x="1481138" y="1428750"/>
            <a:ext cx="7019925" cy="1444625"/>
            <a:chOff x="0" y="0"/>
            <a:chExt cx="3984" cy="912"/>
          </a:xfrm>
        </p:grpSpPr>
        <p:sp>
          <p:nvSpPr>
            <p:cNvPr id="35867" name="AutoShape 4"/>
            <p:cNvSpPr/>
            <p:nvPr/>
          </p:nvSpPr>
          <p:spPr>
            <a:xfrm>
              <a:off x="0" y="0"/>
              <a:ext cx="3984" cy="912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F3F3F3"/>
                </a:gs>
                <a:gs pos="50000">
                  <a:srgbClr val="DDDDDD"/>
                </a:gs>
                <a:gs pos="100000">
                  <a:srgbClr val="F3F3F3"/>
                </a:gs>
              </a:gsLst>
              <a:lin ang="18900000" scaled="1"/>
              <a:tileRect/>
            </a:gra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5868" name="Group 5"/>
            <p:cNvGrpSpPr/>
            <p:nvPr/>
          </p:nvGrpSpPr>
          <p:grpSpPr>
            <a:xfrm>
              <a:off x="36" y="121"/>
              <a:ext cx="854" cy="746"/>
              <a:chOff x="0" y="0"/>
              <a:chExt cx="854" cy="746"/>
            </a:xfrm>
          </p:grpSpPr>
          <p:sp>
            <p:nvSpPr>
              <p:cNvPr id="35870" name="AutoShape 6"/>
              <p:cNvSpPr/>
              <p:nvPr/>
            </p:nvSpPr>
            <p:spPr>
              <a:xfrm>
                <a:off x="51" y="0"/>
                <a:ext cx="767" cy="746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506290"/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" name="Freeform 7"/>
              <p:cNvSpPr>
                <a:spLocks noChangeArrowheads="1"/>
              </p:cNvSpPr>
              <p:nvPr/>
            </p:nvSpPr>
            <p:spPr bwMode="auto">
              <a:xfrm>
                <a:off x="99" y="11"/>
                <a:ext cx="444" cy="274"/>
              </a:xfrm>
              <a:custGeom>
                <a:avLst/>
                <a:gdLst>
                  <a:gd name="T0" fmla="*/ 118 w 596"/>
                  <a:gd name="T1" fmla="*/ 0 h 598"/>
                  <a:gd name="T2" fmla="*/ 0 w 596"/>
                  <a:gd name="T3" fmla="*/ 118 h 598"/>
                  <a:gd name="T4" fmla="*/ 0 w 596"/>
                  <a:gd name="T5" fmla="*/ 589 h 598"/>
                  <a:gd name="T6" fmla="*/ 161 w 596"/>
                  <a:gd name="T7" fmla="*/ 174 h 598"/>
                  <a:gd name="T8" fmla="*/ 589 w 596"/>
                  <a:gd name="T9" fmla="*/ 0 h 598"/>
                  <a:gd name="T10" fmla="*/ 118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50000">
                    <a:srgbClr val="B2C0E4"/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</a:gra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872" name="Text Box 8"/>
              <p:cNvSpPr txBox="1"/>
              <p:nvPr/>
            </p:nvSpPr>
            <p:spPr>
              <a:xfrm>
                <a:off x="0" y="148"/>
                <a:ext cx="854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0" hangingPunc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保持呼吸</a:t>
                </a:r>
                <a:endPara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marL="0" lvl="0" indent="0" algn="ctr" eaLnBrk="0" hangingPunc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道通畅</a:t>
                </a:r>
                <a:endParaRPr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5869" name="Text Box 9"/>
            <p:cNvSpPr txBox="1"/>
            <p:nvPr/>
          </p:nvSpPr>
          <p:spPr>
            <a:xfrm>
              <a:off x="894" y="77"/>
              <a:ext cx="2983" cy="83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①解除气道压迫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②清除呼吸道分泌物或异物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③通过鼻导管或面罩给氧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accent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④必要时辅助呼吸（气管插管或气管切开）</a:t>
              </a:r>
              <a:endParaRPr lang="zh-CN" altLang="en-US" sz="2000" b="1" dirty="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844" name="Group 10"/>
          <p:cNvGrpSpPr/>
          <p:nvPr/>
        </p:nvGrpSpPr>
        <p:grpSpPr>
          <a:xfrm>
            <a:off x="1476375" y="3000375"/>
            <a:ext cx="7024688" cy="1087438"/>
            <a:chOff x="0" y="0"/>
            <a:chExt cx="3984" cy="795"/>
          </a:xfrm>
        </p:grpSpPr>
        <p:sp>
          <p:nvSpPr>
            <p:cNvPr id="35861" name="AutoShape 11"/>
            <p:cNvSpPr/>
            <p:nvPr/>
          </p:nvSpPr>
          <p:spPr>
            <a:xfrm>
              <a:off x="0" y="0"/>
              <a:ext cx="3984" cy="760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F2F2F2"/>
                </a:gs>
                <a:gs pos="50000">
                  <a:srgbClr val="DDDDDD"/>
                </a:gs>
                <a:gs pos="100000">
                  <a:srgbClr val="F2F2F2"/>
                </a:gs>
              </a:gsLst>
              <a:lin ang="18900000" scaled="1"/>
              <a:tileRect/>
            </a:gra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5862" name="Group 12"/>
            <p:cNvGrpSpPr/>
            <p:nvPr/>
          </p:nvGrpSpPr>
          <p:grpSpPr>
            <a:xfrm>
              <a:off x="87" y="38"/>
              <a:ext cx="768" cy="694"/>
              <a:chOff x="0" y="0"/>
              <a:chExt cx="768" cy="694"/>
            </a:xfrm>
          </p:grpSpPr>
          <p:sp>
            <p:nvSpPr>
              <p:cNvPr id="35864" name="AutoShape 13"/>
              <p:cNvSpPr/>
              <p:nvPr/>
            </p:nvSpPr>
            <p:spPr>
              <a:xfrm>
                <a:off x="0" y="0"/>
                <a:ext cx="768" cy="694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rgbClr val="C6C381"/>
                  </a:gs>
                  <a:gs pos="100000">
                    <a:schemeClr val="hlink"/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65" name="Freeform 14"/>
              <p:cNvSpPr/>
              <p:nvPr/>
            </p:nvSpPr>
            <p:spPr>
              <a:xfrm>
                <a:off x="48" y="14"/>
                <a:ext cx="383" cy="209"/>
              </a:xfrm>
              <a:custGeom>
                <a:avLst/>
                <a:gdLst>
                  <a:gd name="txL" fmla="*/ 0 w 596"/>
                  <a:gd name="txT" fmla="*/ 0 h 598"/>
                  <a:gd name="txR" fmla="*/ 596 w 596"/>
                  <a:gd name="txB" fmla="*/ 598 h 598"/>
                </a:gdLst>
                <a:ahLst/>
                <a:cxnLst>
                  <a:cxn ang="0">
                    <a:pos x="49" y="0"/>
                  </a:cxn>
                  <a:cxn ang="0">
                    <a:pos x="0" y="14"/>
                  </a:cxn>
                  <a:cxn ang="0">
                    <a:pos x="0" y="72"/>
                  </a:cxn>
                  <a:cxn ang="0">
                    <a:pos x="66" y="21"/>
                  </a:cxn>
                  <a:cxn ang="0">
                    <a:pos x="244" y="0"/>
                  </a:cxn>
                  <a:cxn ang="0">
                    <a:pos x="49" y="0"/>
                  </a:cxn>
                </a:cxnLst>
                <a:rect l="txL" t="txT" r="txR" b="txB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EDCB6">
                      <a:alpha val="100000"/>
                    </a:srgbClr>
                  </a:gs>
                  <a:gs pos="100000">
                    <a:schemeClr val="hlink">
                      <a:alpha val="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1519" name="Text Box 15"/>
              <p:cNvSpPr txBox="1">
                <a:spLocks noChangeArrowheads="1"/>
              </p:cNvSpPr>
              <p:nvPr/>
            </p:nvSpPr>
            <p:spPr bwMode="auto">
              <a:xfrm>
                <a:off x="92" y="120"/>
                <a:ext cx="579" cy="49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marR="0" algn="ctr" defTabSz="914400"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2000" b="1" kern="1200" cap="none" spc="0" normalizeH="0" baseline="0" noProof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补充血容量</a:t>
                </a:r>
                <a:r>
                  <a:rPr kumimoji="0" lang="zh-CN" altLang="en-US" sz="2000" b="1" kern="1200" cap="none" spc="0" normalizeH="0" baseline="0" noProof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cs"/>
                  </a:rPr>
                  <a:t> </a:t>
                </a:r>
                <a:endParaRPr kumimoji="0" lang="zh-CN" altLang="en-US" sz="2000" b="1" kern="1200" cap="none" spc="0" normalizeH="0" baseline="0" noProof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5863" name="Text Box 16"/>
            <p:cNvSpPr txBox="1"/>
            <p:nvPr/>
          </p:nvSpPr>
          <p:spPr>
            <a:xfrm>
              <a:off x="896" y="52"/>
              <a:ext cx="2928" cy="7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B3773B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是纠正组织低灌注和缺氧的关键。迅速建立静脉通道，根据监测指标估算输液量及判断补液效果</a:t>
              </a:r>
              <a:endParaRPr lang="zh-CN" altLang="en-US" sz="2000" b="1" dirty="0">
                <a:solidFill>
                  <a:srgbClr val="B3773B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845" name="Group 17"/>
          <p:cNvGrpSpPr/>
          <p:nvPr/>
        </p:nvGrpSpPr>
        <p:grpSpPr>
          <a:xfrm>
            <a:off x="1441450" y="4214813"/>
            <a:ext cx="7059613" cy="1085850"/>
            <a:chOff x="0" y="0"/>
            <a:chExt cx="3984" cy="924"/>
          </a:xfrm>
        </p:grpSpPr>
        <p:sp>
          <p:nvSpPr>
            <p:cNvPr id="35855" name="AutoShape 18"/>
            <p:cNvSpPr/>
            <p:nvPr/>
          </p:nvSpPr>
          <p:spPr>
            <a:xfrm>
              <a:off x="0" y="0"/>
              <a:ext cx="3984" cy="912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EEEEEE"/>
                </a:gs>
                <a:gs pos="50000">
                  <a:srgbClr val="DDDDDD"/>
                </a:gs>
                <a:gs pos="100000">
                  <a:srgbClr val="EEEEEE"/>
                </a:gs>
              </a:gsLst>
              <a:lin ang="18900000" scaled="1"/>
              <a:tileRect/>
            </a:gra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5856" name="Group 19"/>
            <p:cNvGrpSpPr/>
            <p:nvPr/>
          </p:nvGrpSpPr>
          <p:grpSpPr>
            <a:xfrm>
              <a:off x="87" y="84"/>
              <a:ext cx="768" cy="747"/>
              <a:chOff x="0" y="0"/>
              <a:chExt cx="768" cy="747"/>
            </a:xfrm>
          </p:grpSpPr>
          <p:sp>
            <p:nvSpPr>
              <p:cNvPr id="35858" name="AutoShape 20"/>
              <p:cNvSpPr/>
              <p:nvPr/>
            </p:nvSpPr>
            <p:spPr>
              <a:xfrm>
                <a:off x="0" y="0"/>
                <a:ext cx="768" cy="747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rgbClr val="5DBEDF"/>
                  </a:gs>
                  <a:gs pos="100000">
                    <a:schemeClr val="folHlink"/>
                  </a:gs>
                </a:gsLst>
                <a:lin ang="5400000" scaled="1"/>
                <a:tileRect/>
              </a:gradFill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59" name="Freeform 21"/>
              <p:cNvSpPr/>
              <p:nvPr/>
            </p:nvSpPr>
            <p:spPr>
              <a:xfrm>
                <a:off x="42" y="28"/>
                <a:ext cx="383" cy="251"/>
              </a:xfrm>
              <a:custGeom>
                <a:avLst/>
                <a:gdLst>
                  <a:gd name="txL" fmla="*/ 0 w 596"/>
                  <a:gd name="txT" fmla="*/ 0 h 598"/>
                  <a:gd name="txR" fmla="*/ 596 w 596"/>
                  <a:gd name="txB" fmla="*/ 598 h 598"/>
                </a:gdLst>
                <a:ahLst/>
                <a:cxnLst>
                  <a:cxn ang="0">
                    <a:pos x="49" y="0"/>
                  </a:cxn>
                  <a:cxn ang="0">
                    <a:pos x="0" y="21"/>
                  </a:cxn>
                  <a:cxn ang="0">
                    <a:pos x="0" y="104"/>
                  </a:cxn>
                  <a:cxn ang="0">
                    <a:pos x="66" y="31"/>
                  </a:cxn>
                  <a:cxn ang="0">
                    <a:pos x="244" y="0"/>
                  </a:cxn>
                  <a:cxn ang="0">
                    <a:pos x="49" y="0"/>
                  </a:cxn>
                </a:cxnLst>
                <a:rect l="txL" t="txT" r="txR" b="txB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3CDE6">
                      <a:alpha val="100000"/>
                    </a:srgbClr>
                  </a:gs>
                  <a:gs pos="100000">
                    <a:schemeClr val="folHlink">
                      <a:alpha val="0"/>
                    </a:scheme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5860" name="Text Box 22"/>
              <p:cNvSpPr txBox="1"/>
              <p:nvPr/>
            </p:nvSpPr>
            <p:spPr>
              <a:xfrm>
                <a:off x="83" y="98"/>
                <a:ext cx="637" cy="6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0" hangingPunc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处理原</a:t>
                </a:r>
                <a:endPara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lvl="0" indent="0" algn="ctr" eaLnBrk="0" hangingPunc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发伤 </a:t>
                </a:r>
                <a:endPara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5857" name="Text Box 23"/>
            <p:cNvSpPr txBox="1"/>
            <p:nvPr/>
          </p:nvSpPr>
          <p:spPr>
            <a:xfrm>
              <a:off x="911" y="60"/>
              <a:ext cx="2928" cy="8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folHlin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对创伤的病人，应做包扎、固定、制动止血。常用的止血方法为局部压迫法和结扎带结扎止血法等，必要时可使用抗休克裤止血</a:t>
              </a:r>
              <a:endPara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5846" name="Group 17"/>
          <p:cNvGrpSpPr/>
          <p:nvPr/>
        </p:nvGrpSpPr>
        <p:grpSpPr>
          <a:xfrm>
            <a:off x="1428750" y="5429250"/>
            <a:ext cx="7072313" cy="714375"/>
            <a:chOff x="0" y="0"/>
            <a:chExt cx="3984" cy="912"/>
          </a:xfrm>
        </p:grpSpPr>
        <p:sp>
          <p:nvSpPr>
            <p:cNvPr id="35849" name="AutoShape 18"/>
            <p:cNvSpPr/>
            <p:nvPr/>
          </p:nvSpPr>
          <p:spPr>
            <a:xfrm>
              <a:off x="0" y="0"/>
              <a:ext cx="3984" cy="912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EEEEEE"/>
                </a:gs>
                <a:gs pos="50000">
                  <a:srgbClr val="DDDDDD"/>
                </a:gs>
                <a:gs pos="100000">
                  <a:srgbClr val="EEEEEE"/>
                </a:gs>
              </a:gsLst>
              <a:lin ang="18900000" scaled="1"/>
              <a:tileRect/>
            </a:gradFill>
            <a:ln w="3810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5850" name="Group 19"/>
            <p:cNvGrpSpPr/>
            <p:nvPr/>
          </p:nvGrpSpPr>
          <p:grpSpPr>
            <a:xfrm>
              <a:off x="80" y="84"/>
              <a:ext cx="788" cy="737"/>
              <a:chOff x="0" y="0"/>
              <a:chExt cx="788" cy="737"/>
            </a:xfrm>
          </p:grpSpPr>
          <p:sp>
            <p:nvSpPr>
              <p:cNvPr id="35852" name="AutoShape 20"/>
              <p:cNvSpPr/>
              <p:nvPr/>
            </p:nvSpPr>
            <p:spPr>
              <a:xfrm>
                <a:off x="7" y="0"/>
                <a:ext cx="768" cy="737"/>
              </a:xfrm>
              <a:prstGeom prst="roundRect">
                <a:avLst>
                  <a:gd name="adj" fmla="val 11921"/>
                </a:avLst>
              </a:prstGeom>
              <a:solidFill>
                <a:srgbClr val="00B050"/>
              </a:solidFill>
              <a:ln w="3810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53" name="Freeform 21"/>
              <p:cNvSpPr/>
              <p:nvPr/>
            </p:nvSpPr>
            <p:spPr>
              <a:xfrm>
                <a:off x="41" y="48"/>
                <a:ext cx="384" cy="233"/>
              </a:xfrm>
              <a:custGeom>
                <a:avLst/>
                <a:gdLst>
                  <a:gd name="txL" fmla="*/ 0 w 596"/>
                  <a:gd name="txT" fmla="*/ 0 h 598"/>
                  <a:gd name="txR" fmla="*/ 596 w 596"/>
                  <a:gd name="txB" fmla="*/ 598 h 598"/>
                </a:gdLst>
                <a:ahLst/>
                <a:cxnLst>
                  <a:cxn ang="0">
                    <a:pos x="49" y="0"/>
                  </a:cxn>
                  <a:cxn ang="0">
                    <a:pos x="0" y="18"/>
                  </a:cxn>
                  <a:cxn ang="0">
                    <a:pos x="0" y="89"/>
                  </a:cxn>
                  <a:cxn ang="0">
                    <a:pos x="67" y="26"/>
                  </a:cxn>
                  <a:cxn ang="0">
                    <a:pos x="244" y="0"/>
                  </a:cxn>
                  <a:cxn ang="0">
                    <a:pos x="49" y="0"/>
                  </a:cxn>
                </a:cxnLst>
                <a:rect l="txL" t="txT" r="txR" b="txB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47FFA3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5854" name="Text Box 22"/>
              <p:cNvSpPr txBox="1"/>
              <p:nvPr/>
            </p:nvSpPr>
            <p:spPr>
              <a:xfrm>
                <a:off x="0" y="159"/>
                <a:ext cx="788" cy="3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0" hangingPunc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其他措施 </a:t>
                </a:r>
                <a:endPara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5851" name="Text Box 23"/>
            <p:cNvSpPr txBox="1"/>
            <p:nvPr/>
          </p:nvSpPr>
          <p:spPr>
            <a:xfrm>
              <a:off x="878" y="219"/>
              <a:ext cx="2928" cy="5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0" hangingPunc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00B05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镇静、止痛、保暖等</a:t>
              </a:r>
              <a:endParaRPr lang="zh-CN" altLang="en-US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35847" name="TextBox 34"/>
          <p:cNvSpPr txBox="1"/>
          <p:nvPr/>
        </p:nvSpPr>
        <p:spPr>
          <a:xfrm>
            <a:off x="714375" y="2754313"/>
            <a:ext cx="642938" cy="2246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㈠急救护理</a:t>
            </a:r>
            <a:endParaRPr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AutoShape 17"/>
          <p:cNvSpPr/>
          <p:nvPr/>
        </p:nvSpPr>
        <p:spPr>
          <a:xfrm>
            <a:off x="623888" y="1428750"/>
            <a:ext cx="7948612" cy="4819650"/>
          </a:xfrm>
          <a:prstGeom prst="roundRect">
            <a:avLst>
              <a:gd name="adj" fmla="val 5329"/>
            </a:avLst>
          </a:prstGeom>
          <a:solidFill>
            <a:schemeClr val="accent2">
              <a:alpha val="50195"/>
            </a:schemeClr>
          </a:solidFill>
          <a:ln w="38100" cap="flat" cmpd="dbl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6868" name="Group 18"/>
          <p:cNvGrpSpPr/>
          <p:nvPr/>
        </p:nvGrpSpPr>
        <p:grpSpPr>
          <a:xfrm>
            <a:off x="674688" y="1643063"/>
            <a:ext cx="7754937" cy="750887"/>
            <a:chOff x="0" y="0"/>
            <a:chExt cx="1096" cy="210"/>
          </a:xfrm>
        </p:grpSpPr>
        <p:sp>
          <p:nvSpPr>
            <p:cNvPr id="36878" name="AutoShape 19"/>
            <p:cNvSpPr/>
            <p:nvPr/>
          </p:nvSpPr>
          <p:spPr>
            <a:xfrm>
              <a:off x="0" y="0"/>
              <a:ext cx="1094" cy="210"/>
            </a:xfrm>
            <a:prstGeom prst="roundRect">
              <a:avLst>
                <a:gd name="adj" fmla="val 41602"/>
              </a:avLst>
            </a:prstGeom>
            <a:gradFill rotWithShape="1">
              <a:gsLst>
                <a:gs pos="0">
                  <a:schemeClr val="accent2"/>
                </a:gs>
                <a:gs pos="100000">
                  <a:srgbClr val="006030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dist="35921" dir="2699999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879" name="Group 20"/>
            <p:cNvGrpSpPr/>
            <p:nvPr/>
          </p:nvGrpSpPr>
          <p:grpSpPr>
            <a:xfrm>
              <a:off x="4" y="31"/>
              <a:ext cx="45" cy="163"/>
              <a:chOff x="0" y="0"/>
              <a:chExt cx="68" cy="198"/>
            </a:xfrm>
          </p:grpSpPr>
          <p:sp>
            <p:nvSpPr>
              <p:cNvPr id="36885" name="AutoShape 21"/>
              <p:cNvSpPr/>
              <p:nvPr/>
            </p:nvSpPr>
            <p:spPr>
              <a:xfrm rot="-267535" flipV="1">
                <a:off x="0" y="0"/>
                <a:ext cx="68" cy="198"/>
              </a:xfrm>
              <a:prstGeom prst="moon">
                <a:avLst>
                  <a:gd name="adj" fmla="val 20051"/>
                </a:avLst>
              </a:prstGeom>
              <a:solidFill>
                <a:srgbClr val="FFFFFF">
                  <a:alpha val="39999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86" name="AutoShape 22"/>
              <p:cNvSpPr/>
              <p:nvPr/>
            </p:nvSpPr>
            <p:spPr>
              <a:xfrm rot="-267535" flipV="1">
                <a:off x="4" y="15"/>
                <a:ext cx="42" cy="167"/>
              </a:xfrm>
              <a:prstGeom prst="moon">
                <a:avLst>
                  <a:gd name="adj" fmla="val 20051"/>
                </a:avLst>
              </a:prstGeom>
              <a:solidFill>
                <a:srgbClr val="FFFFFF">
                  <a:alpha val="39999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87" name="AutoShape 23"/>
              <p:cNvSpPr/>
              <p:nvPr/>
            </p:nvSpPr>
            <p:spPr>
              <a:xfrm rot="-267535" flipV="1">
                <a:off x="2" y="37"/>
                <a:ext cx="27" cy="123"/>
              </a:xfrm>
              <a:prstGeom prst="moon">
                <a:avLst>
                  <a:gd name="adj" fmla="val 20051"/>
                </a:avLst>
              </a:prstGeom>
              <a:solidFill>
                <a:srgbClr val="FFFFFF">
                  <a:alpha val="39999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6880" name="Group 24"/>
            <p:cNvGrpSpPr/>
            <p:nvPr/>
          </p:nvGrpSpPr>
          <p:grpSpPr>
            <a:xfrm>
              <a:off x="1047" y="29"/>
              <a:ext cx="49" cy="172"/>
              <a:chOff x="0" y="0"/>
              <a:chExt cx="68" cy="198"/>
            </a:xfrm>
          </p:grpSpPr>
          <p:sp>
            <p:nvSpPr>
              <p:cNvPr id="36882" name="AutoShape 25"/>
              <p:cNvSpPr/>
              <p:nvPr/>
            </p:nvSpPr>
            <p:spPr>
              <a:xfrm rot="267535" flipH="1" flipV="1">
                <a:off x="0" y="0"/>
                <a:ext cx="68" cy="198"/>
              </a:xfrm>
              <a:prstGeom prst="moon">
                <a:avLst>
                  <a:gd name="adj" fmla="val 20051"/>
                </a:avLst>
              </a:prstGeom>
              <a:solidFill>
                <a:srgbClr val="333333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83" name="AutoShape 26"/>
              <p:cNvSpPr/>
              <p:nvPr/>
            </p:nvSpPr>
            <p:spPr>
              <a:xfrm rot="267535" flipH="1" flipV="1">
                <a:off x="22" y="15"/>
                <a:ext cx="42" cy="167"/>
              </a:xfrm>
              <a:prstGeom prst="moon">
                <a:avLst>
                  <a:gd name="adj" fmla="val 20051"/>
                </a:avLst>
              </a:prstGeom>
              <a:solidFill>
                <a:srgbClr val="333333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84" name="AutoShape 27"/>
              <p:cNvSpPr/>
              <p:nvPr/>
            </p:nvSpPr>
            <p:spPr>
              <a:xfrm rot="267535" flipH="1" flipV="1">
                <a:off x="39" y="37"/>
                <a:ext cx="27" cy="123"/>
              </a:xfrm>
              <a:prstGeom prst="moon">
                <a:avLst>
                  <a:gd name="adj" fmla="val 29657"/>
                </a:avLst>
              </a:prstGeom>
              <a:solidFill>
                <a:srgbClr val="333333">
                  <a:alpha val="20000"/>
                </a:srgbClr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6881" name="Picture 28" descr="high_line01"/>
            <p:cNvPicPr>
              <a:picLocks noChangeAspect="1"/>
            </p:cNvPicPr>
            <p:nvPr/>
          </p:nvPicPr>
          <p:blipFill>
            <a:blip r:embed="rId1"/>
            <a:srcRect t="8891" r="58304" b="12320"/>
            <a:stretch>
              <a:fillRect/>
            </a:stretch>
          </p:blipFill>
          <p:spPr>
            <a:xfrm rot="-5400000">
              <a:off x="477" y="-431"/>
              <a:ext cx="130" cy="10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6869" name="AutoShape 114"/>
          <p:cNvSpPr/>
          <p:nvPr/>
        </p:nvSpPr>
        <p:spPr>
          <a:xfrm>
            <a:off x="714375" y="2536825"/>
            <a:ext cx="7715250" cy="1285875"/>
          </a:xfrm>
          <a:prstGeom prst="roundRect">
            <a:avLst>
              <a:gd name="adj" fmla="val 32838"/>
            </a:avLst>
          </a:prstGeom>
          <a:solidFill>
            <a:srgbClr val="F8F8F8"/>
          </a:solidFill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8B4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AutoShape 115"/>
          <p:cNvSpPr/>
          <p:nvPr/>
        </p:nvSpPr>
        <p:spPr>
          <a:xfrm>
            <a:off x="714375" y="3322638"/>
            <a:ext cx="7715250" cy="1500187"/>
          </a:xfrm>
          <a:prstGeom prst="roundRect">
            <a:avLst>
              <a:gd name="adj" fmla="val 32838"/>
            </a:avLst>
          </a:prstGeom>
          <a:solidFill>
            <a:srgbClr val="F8F8F8"/>
          </a:solidFill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8B4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130"/>
          <p:cNvSpPr/>
          <p:nvPr/>
        </p:nvSpPr>
        <p:spPr>
          <a:xfrm>
            <a:off x="890588" y="2608263"/>
            <a:ext cx="7396162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⑴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体位</a:t>
            </a: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平卧位或抗休克体位。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抗休克体位</a:t>
            </a:r>
            <a:r>
              <a:rPr lang="zh-CN" altLang="en-US" sz="2000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头和躯干抬高</a:t>
            </a:r>
            <a:r>
              <a:rPr lang="en-US" altLang="zh-CN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20°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30°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，下肢抬高</a:t>
            </a:r>
            <a:r>
              <a:rPr lang="en-US" altLang="zh-CN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15°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～</a:t>
            </a:r>
            <a:r>
              <a:rPr lang="en-US" altLang="zh-CN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20°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卧位，以暂时增加回心血量</a:t>
            </a:r>
            <a:endParaRPr lang="zh-CN" altLang="en-US" sz="2000" b="1" dirty="0">
              <a:solidFill>
                <a:srgbClr val="008B4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TextBox 55"/>
          <p:cNvSpPr txBox="1"/>
          <p:nvPr/>
        </p:nvSpPr>
        <p:spPr>
          <a:xfrm>
            <a:off x="1357313" y="1751013"/>
            <a:ext cx="62865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㈡ 一般护理</a:t>
            </a:r>
            <a:endParaRPr lang="zh-CN" altLang="en-US" sz="28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3" name="Rectangle 130"/>
          <p:cNvSpPr/>
          <p:nvPr/>
        </p:nvSpPr>
        <p:spPr>
          <a:xfrm>
            <a:off x="857250" y="3394075"/>
            <a:ext cx="739616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⑵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呼吸道管理</a:t>
            </a: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昏迷病人</a:t>
            </a:r>
            <a:r>
              <a:rPr lang="zh-CN" altLang="en-US" sz="2000" b="1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头偏一侧或置入通气管，清除呼吸道分泌物。</a:t>
            </a:r>
            <a:r>
              <a:rPr lang="zh-CN" altLang="en-US" sz="2000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常规给氧</a:t>
            </a:r>
            <a:r>
              <a:rPr lang="zh-CN" altLang="en-US" sz="2000" b="1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000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严重呼吸困难者</a:t>
            </a:r>
            <a:r>
              <a:rPr lang="zh-CN" altLang="en-US" sz="2000" b="1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协助医生行气管插管或气管切开并尽早使用呼吸机辅助呼吸</a:t>
            </a:r>
            <a:endParaRPr lang="zh-CN" altLang="en-US" sz="2000" dirty="0">
              <a:solidFill>
                <a:srgbClr val="008B4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74" name="AutoShape 115"/>
          <p:cNvSpPr/>
          <p:nvPr/>
        </p:nvSpPr>
        <p:spPr>
          <a:xfrm>
            <a:off x="714375" y="4394200"/>
            <a:ext cx="7715250" cy="1214438"/>
          </a:xfrm>
          <a:prstGeom prst="roundRect">
            <a:avLst>
              <a:gd name="adj" fmla="val 32838"/>
            </a:avLst>
          </a:prstGeom>
          <a:solidFill>
            <a:srgbClr val="F8F8F8"/>
          </a:solidFill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8B4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5" name="Rectangle 130"/>
          <p:cNvSpPr/>
          <p:nvPr/>
        </p:nvSpPr>
        <p:spPr>
          <a:xfrm>
            <a:off x="857250" y="4465638"/>
            <a:ext cx="73961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⑶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维持正常体温</a:t>
            </a: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注意保暖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。②及时更换被汗液浸湿的衣、被等，做好病人的皮肤护理。③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禁用</a:t>
            </a:r>
            <a:r>
              <a:rPr lang="zh-CN" altLang="en-US" sz="2000" dirty="0">
                <a:solidFill>
                  <a:srgbClr val="008B4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体表局部加温方法</a:t>
            </a:r>
            <a:endParaRPr lang="zh-CN" altLang="en-US" sz="2000" dirty="0">
              <a:solidFill>
                <a:srgbClr val="008B4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76" name="AutoShape 115"/>
          <p:cNvSpPr/>
          <p:nvPr/>
        </p:nvSpPr>
        <p:spPr>
          <a:xfrm>
            <a:off x="714375" y="5180013"/>
            <a:ext cx="7715250" cy="928687"/>
          </a:xfrm>
          <a:prstGeom prst="roundRect">
            <a:avLst>
              <a:gd name="adj" fmla="val 32838"/>
            </a:avLst>
          </a:prstGeom>
          <a:solidFill>
            <a:srgbClr val="F8F8F8"/>
          </a:solidFill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8B45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7" name="Rectangle 130"/>
          <p:cNvSpPr/>
          <p:nvPr/>
        </p:nvSpPr>
        <p:spPr>
          <a:xfrm>
            <a:off x="857250" y="5251450"/>
            <a:ext cx="7396163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⑷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预防损伤</a:t>
            </a: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烦躁不安或神志不清病人</a:t>
            </a:r>
            <a:r>
              <a:rPr lang="zh-CN" altLang="en-US" sz="2000" b="1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000" dirty="0">
                <a:solidFill>
                  <a:srgbClr val="008B4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床边加护栏、固定输液肢体，必要时约束四肢</a:t>
            </a:r>
            <a:endParaRPr lang="zh-CN" altLang="en-US" sz="2000" dirty="0">
              <a:solidFill>
                <a:srgbClr val="008B4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AutoShape 3"/>
          <p:cNvSpPr/>
          <p:nvPr/>
        </p:nvSpPr>
        <p:spPr>
          <a:xfrm rot="5400000">
            <a:off x="-1420812" y="1625600"/>
            <a:ext cx="4822825" cy="4770438"/>
          </a:xfrm>
          <a:custGeom>
            <a:avLst/>
            <a:gdLst>
              <a:gd name="txL" fmla="*/ 401 w 21600"/>
              <a:gd name="txT" fmla="*/ 0 h 21600"/>
              <a:gd name="txR" fmla="*/ 21199 w 21600"/>
              <a:gd name="txB" fmla="*/ 13628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lnTo>
                  <a:pt x="323" y="10641"/>
                </a:lnTo>
                <a:close/>
              </a:path>
            </a:pathLst>
          </a:custGeom>
          <a:gradFill rotWithShape="1">
            <a:gsLst>
              <a:gs pos="0">
                <a:srgbClr val="3399FF">
                  <a:alpha val="100000"/>
                </a:srgbClr>
              </a:gs>
              <a:gs pos="50000">
                <a:srgbClr val="A2D1FF">
                  <a:alpha val="100000"/>
                </a:srgbClr>
              </a:gs>
              <a:gs pos="100000">
                <a:srgbClr val="3399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7891" name="AutoShape 4"/>
          <p:cNvSpPr/>
          <p:nvPr/>
        </p:nvSpPr>
        <p:spPr>
          <a:xfrm rot="5400000" flipH="1">
            <a:off x="-1016000" y="2062163"/>
            <a:ext cx="4032250" cy="39290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rgbClr val="3D5192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7892" name="AutoShape 5"/>
          <p:cNvSpPr/>
          <p:nvPr/>
        </p:nvSpPr>
        <p:spPr>
          <a:xfrm>
            <a:off x="2701925" y="5513388"/>
            <a:ext cx="4419600" cy="508000"/>
          </a:xfrm>
          <a:prstGeom prst="roundRect">
            <a:avLst>
              <a:gd name="adj" fmla="val 50000"/>
            </a:avLst>
          </a:prstGeom>
          <a:solidFill>
            <a:srgbClr val="3D5192"/>
          </a:solidFill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⑸辅助动态监测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3" name="AutoShape 6"/>
          <p:cNvSpPr/>
          <p:nvPr/>
        </p:nvSpPr>
        <p:spPr>
          <a:xfrm>
            <a:off x="3317875" y="4581525"/>
            <a:ext cx="4419600" cy="508000"/>
          </a:xfrm>
          <a:prstGeom prst="roundRect">
            <a:avLst>
              <a:gd name="adj" fmla="val 50000"/>
            </a:avLst>
          </a:prstGeom>
          <a:solidFill>
            <a:srgbClr val="3D5192"/>
          </a:solidFill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⑷ 尿量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4" name="AutoShape 7"/>
          <p:cNvSpPr/>
          <p:nvPr/>
        </p:nvSpPr>
        <p:spPr>
          <a:xfrm>
            <a:off x="3438525" y="3611563"/>
            <a:ext cx="4419600" cy="508000"/>
          </a:xfrm>
          <a:prstGeom prst="roundRect">
            <a:avLst>
              <a:gd name="adj" fmla="val 50000"/>
            </a:avLst>
          </a:prstGeom>
          <a:solidFill>
            <a:srgbClr val="3D5192"/>
          </a:solidFill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⑶ 皮肤色泽和温度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5" name="AutoShape 8"/>
          <p:cNvSpPr/>
          <p:nvPr/>
        </p:nvSpPr>
        <p:spPr>
          <a:xfrm>
            <a:off x="3213100" y="2636838"/>
            <a:ext cx="4419600" cy="508000"/>
          </a:xfrm>
          <a:prstGeom prst="roundRect">
            <a:avLst>
              <a:gd name="adj" fmla="val 50000"/>
            </a:avLst>
          </a:prstGeom>
          <a:solidFill>
            <a:srgbClr val="3D5192"/>
          </a:solidFill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⑵ 生命体征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6" name="AutoShape 9"/>
          <p:cNvSpPr/>
          <p:nvPr/>
        </p:nvSpPr>
        <p:spPr>
          <a:xfrm>
            <a:off x="2505075" y="1773238"/>
            <a:ext cx="4419600" cy="508000"/>
          </a:xfrm>
          <a:prstGeom prst="roundRect">
            <a:avLst>
              <a:gd name="adj" fmla="val 50000"/>
            </a:avLst>
          </a:prstGeom>
          <a:solidFill>
            <a:srgbClr val="3D5192"/>
          </a:solidFill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⑴ 意识和精神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7897" name="Group 10"/>
          <p:cNvGrpSpPr/>
          <p:nvPr/>
        </p:nvGrpSpPr>
        <p:grpSpPr>
          <a:xfrm>
            <a:off x="2187575" y="1862138"/>
            <a:ext cx="381000" cy="381000"/>
            <a:chOff x="0" y="0"/>
            <a:chExt cx="1615" cy="1615"/>
          </a:xfrm>
        </p:grpSpPr>
        <p:sp>
          <p:nvSpPr>
            <p:cNvPr id="37928" name="Oval 11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29" name="Oval 12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3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31" name="Oval 14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15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33" name="Oval 16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898" name="Group 17"/>
          <p:cNvGrpSpPr/>
          <p:nvPr/>
        </p:nvGrpSpPr>
        <p:grpSpPr>
          <a:xfrm>
            <a:off x="2908300" y="2743200"/>
            <a:ext cx="381000" cy="381000"/>
            <a:chOff x="0" y="0"/>
            <a:chExt cx="1615" cy="1615"/>
          </a:xfrm>
        </p:grpSpPr>
        <p:sp>
          <p:nvSpPr>
            <p:cNvPr id="37922" name="Oval 18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23" name="Oval 19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Oval 20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5" name="Oval 21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22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7" name="Oval 23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899" name="Group 24"/>
          <p:cNvGrpSpPr/>
          <p:nvPr/>
        </p:nvGrpSpPr>
        <p:grpSpPr>
          <a:xfrm>
            <a:off x="3133725" y="3687763"/>
            <a:ext cx="381000" cy="381000"/>
            <a:chOff x="0" y="0"/>
            <a:chExt cx="1615" cy="1615"/>
          </a:xfrm>
        </p:grpSpPr>
        <p:sp>
          <p:nvSpPr>
            <p:cNvPr id="37916" name="Oval 25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7" name="Oval 26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78" name="Oval 27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19" name="Oval 28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29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21" name="Oval 30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900" name="Group 31"/>
          <p:cNvGrpSpPr/>
          <p:nvPr/>
        </p:nvGrpSpPr>
        <p:grpSpPr>
          <a:xfrm>
            <a:off x="2981325" y="4683125"/>
            <a:ext cx="381000" cy="381000"/>
            <a:chOff x="0" y="0"/>
            <a:chExt cx="1615" cy="1615"/>
          </a:xfrm>
        </p:grpSpPr>
        <p:sp>
          <p:nvSpPr>
            <p:cNvPr id="37910" name="Oval 32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11" name="Oval 33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85" name="Oval 34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13" name="Oval 35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87" name="Oval 36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15" name="Oval 37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7901" name="Group 38"/>
          <p:cNvGrpSpPr/>
          <p:nvPr/>
        </p:nvGrpSpPr>
        <p:grpSpPr>
          <a:xfrm>
            <a:off x="2403475" y="5562600"/>
            <a:ext cx="355600" cy="381000"/>
            <a:chOff x="0" y="0"/>
            <a:chExt cx="1615" cy="1615"/>
          </a:xfrm>
        </p:grpSpPr>
        <p:sp>
          <p:nvSpPr>
            <p:cNvPr id="37904" name="Oval 39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5" name="Oval 40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92" name="Oval 41"/>
            <p:cNvSpPr>
              <a:spLocks noChangeArrowheads="1"/>
            </p:cNvSpPr>
            <p:nvPr/>
          </p:nvSpPr>
          <p:spPr bwMode="auto">
            <a:xfrm>
              <a:off x="173" y="17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07" name="Oval 42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94" name="Oval 43"/>
            <p:cNvSpPr>
              <a:spLocks noChangeArrowheads="1"/>
            </p:cNvSpPr>
            <p:nvPr/>
          </p:nvSpPr>
          <p:spPr bwMode="auto">
            <a:xfrm>
              <a:off x="260" y="25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909" name="Oval 44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902" name="Rectangle 46"/>
          <p:cNvSpPr/>
          <p:nvPr/>
        </p:nvSpPr>
        <p:spPr>
          <a:xfrm>
            <a:off x="1192213" y="3500438"/>
            <a:ext cx="1422400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㈢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病情观察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903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圆角矩形 58"/>
          <p:cNvSpPr/>
          <p:nvPr/>
        </p:nvSpPr>
        <p:spPr>
          <a:xfrm>
            <a:off x="2286000" y="2000250"/>
            <a:ext cx="5715000" cy="71438"/>
          </a:xfrm>
          <a:prstGeom prst="roundRect">
            <a:avLst>
              <a:gd name="adj" fmla="val 16667"/>
            </a:avLst>
          </a:prstGeom>
          <a:solidFill>
            <a:srgbClr val="BC7D3E"/>
          </a:solidFill>
          <a:ln w="9525" cap="flat" cmpd="sng">
            <a:solidFill>
              <a:srgbClr val="3D519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AutoShape 3"/>
          <p:cNvSpPr/>
          <p:nvPr/>
        </p:nvSpPr>
        <p:spPr>
          <a:xfrm rot="5400000">
            <a:off x="-1454150" y="1625600"/>
            <a:ext cx="4822825" cy="4770438"/>
          </a:xfrm>
          <a:custGeom>
            <a:avLst/>
            <a:gdLst>
              <a:gd name="txL" fmla="*/ 401 w 21600"/>
              <a:gd name="txT" fmla="*/ 0 h 21600"/>
              <a:gd name="txR" fmla="*/ 21199 w 21600"/>
              <a:gd name="txB" fmla="*/ 13628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lnTo>
                  <a:pt x="323" y="10641"/>
                </a:lnTo>
                <a:close/>
              </a:path>
            </a:pathLst>
          </a:custGeom>
          <a:gradFill rotWithShape="1">
            <a:gsLst>
              <a:gs pos="0">
                <a:srgbClr val="3399FF">
                  <a:alpha val="100000"/>
                </a:srgbClr>
              </a:gs>
              <a:gs pos="50000">
                <a:srgbClr val="A2D1FF">
                  <a:alpha val="100000"/>
                </a:srgbClr>
              </a:gs>
              <a:gs pos="100000">
                <a:srgbClr val="3399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8916" name="AutoShape 4"/>
          <p:cNvSpPr/>
          <p:nvPr/>
        </p:nvSpPr>
        <p:spPr>
          <a:xfrm rot="5400000" flipH="1">
            <a:off x="-1050925" y="2062163"/>
            <a:ext cx="4032250" cy="39306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rgbClr val="3D5192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38917" name="Group 10"/>
          <p:cNvGrpSpPr/>
          <p:nvPr/>
        </p:nvGrpSpPr>
        <p:grpSpPr>
          <a:xfrm>
            <a:off x="2154238" y="1862138"/>
            <a:ext cx="381000" cy="381000"/>
            <a:chOff x="0" y="0"/>
            <a:chExt cx="1615" cy="1615"/>
          </a:xfrm>
        </p:grpSpPr>
        <p:sp>
          <p:nvSpPr>
            <p:cNvPr id="38951" name="Oval 11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52" name="Oval 12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Oval 13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4" name="Oval 14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5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6" name="Oval 16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18" name="Group 17"/>
          <p:cNvGrpSpPr/>
          <p:nvPr/>
        </p:nvGrpSpPr>
        <p:grpSpPr>
          <a:xfrm>
            <a:off x="2865438" y="2714625"/>
            <a:ext cx="381000" cy="381000"/>
            <a:chOff x="0" y="0"/>
            <a:chExt cx="1615" cy="1615"/>
          </a:xfrm>
        </p:grpSpPr>
        <p:sp>
          <p:nvSpPr>
            <p:cNvPr id="38945" name="Oval 18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6" name="Oval 19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20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48" name="Oval 21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93" name="Oval 22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50" name="Oval 23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19" name="Group 24"/>
          <p:cNvGrpSpPr/>
          <p:nvPr/>
        </p:nvGrpSpPr>
        <p:grpSpPr>
          <a:xfrm>
            <a:off x="3090863" y="3659188"/>
            <a:ext cx="381000" cy="381000"/>
            <a:chOff x="0" y="0"/>
            <a:chExt cx="1615" cy="1615"/>
          </a:xfrm>
        </p:grpSpPr>
        <p:sp>
          <p:nvSpPr>
            <p:cNvPr id="38939" name="Oval 25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40" name="Oval 26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42" name="Oval 28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29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44" name="Oval 30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20" name="Group 31"/>
          <p:cNvGrpSpPr/>
          <p:nvPr/>
        </p:nvGrpSpPr>
        <p:grpSpPr>
          <a:xfrm>
            <a:off x="2938463" y="4654550"/>
            <a:ext cx="381000" cy="381000"/>
            <a:chOff x="0" y="0"/>
            <a:chExt cx="1615" cy="1615"/>
          </a:xfrm>
        </p:grpSpPr>
        <p:sp>
          <p:nvSpPr>
            <p:cNvPr id="38933" name="Oval 32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34" name="Oval 33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5" name="Oval 34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6" name="Oval 35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07" name="Oval 36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8" name="Oval 37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921" name="Group 38"/>
          <p:cNvGrpSpPr/>
          <p:nvPr/>
        </p:nvGrpSpPr>
        <p:grpSpPr>
          <a:xfrm>
            <a:off x="2360613" y="5534025"/>
            <a:ext cx="355600" cy="381000"/>
            <a:chOff x="0" y="0"/>
            <a:chExt cx="1615" cy="1615"/>
          </a:xfrm>
        </p:grpSpPr>
        <p:sp>
          <p:nvSpPr>
            <p:cNvPr id="38927" name="Oval 39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928" name="Oval 40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12" name="Oval 41"/>
            <p:cNvSpPr>
              <a:spLocks noChangeArrowheads="1"/>
            </p:cNvSpPr>
            <p:nvPr/>
          </p:nvSpPr>
          <p:spPr bwMode="auto">
            <a:xfrm>
              <a:off x="173" y="17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0" name="Oval 42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14" name="Oval 43"/>
            <p:cNvSpPr>
              <a:spLocks noChangeArrowheads="1"/>
            </p:cNvSpPr>
            <p:nvPr/>
          </p:nvSpPr>
          <p:spPr bwMode="auto">
            <a:xfrm>
              <a:off x="260" y="25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932" name="Oval 44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922" name="Rectangle 46"/>
          <p:cNvSpPr/>
          <p:nvPr/>
        </p:nvSpPr>
        <p:spPr>
          <a:xfrm>
            <a:off x="1158875" y="3500438"/>
            <a:ext cx="1422400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㈢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病情观察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23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24" name="AutoShape 12"/>
          <p:cNvSpPr/>
          <p:nvPr/>
        </p:nvSpPr>
        <p:spPr>
          <a:xfrm>
            <a:off x="4000500" y="2143125"/>
            <a:ext cx="3643313" cy="3857625"/>
          </a:xfrm>
          <a:prstGeom prst="roundRect">
            <a:avLst>
              <a:gd name="adj" fmla="val 4690"/>
            </a:avLst>
          </a:prstGeom>
          <a:noFill/>
          <a:ln w="57150" cap="flat" cmpd="sng">
            <a:solidFill>
              <a:srgbClr val="3D519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25" name="AutoShape 13"/>
          <p:cNvSpPr/>
          <p:nvPr/>
        </p:nvSpPr>
        <p:spPr>
          <a:xfrm>
            <a:off x="4214813" y="1747838"/>
            <a:ext cx="3198812" cy="5381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34F"/>
              </a:gs>
              <a:gs pos="50000">
                <a:srgbClr val="00FFCC"/>
              </a:gs>
              <a:gs pos="100000">
                <a:srgbClr val="00634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B3773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⑴ 意识和精神</a:t>
            </a:r>
            <a:endParaRPr lang="zh-CN" altLang="en-US" sz="2000" b="1" dirty="0">
              <a:solidFill>
                <a:srgbClr val="B3773B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26" name="TextBox 57"/>
          <p:cNvSpPr txBox="1"/>
          <p:nvPr/>
        </p:nvSpPr>
        <p:spPr>
          <a:xfrm>
            <a:off x="4143375" y="2395538"/>
            <a:ext cx="3500438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意识和精神是脑组织血液灌注和全身循环状况的反映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神志清醒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：循环血量已基本满足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神志不清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（表情淡漠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烦躁不安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谵妄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嗜睡或昏迷）：缺血缺氧已致脑功能障碍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圆角矩形 58"/>
          <p:cNvSpPr/>
          <p:nvPr/>
        </p:nvSpPr>
        <p:spPr>
          <a:xfrm>
            <a:off x="2286000" y="2000250"/>
            <a:ext cx="5715000" cy="71438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9525" cap="flat" cmpd="sng">
            <a:solidFill>
              <a:srgbClr val="005D2E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39" name="AutoShape 3"/>
          <p:cNvSpPr/>
          <p:nvPr/>
        </p:nvSpPr>
        <p:spPr>
          <a:xfrm rot="5400000">
            <a:off x="-1454150" y="1625600"/>
            <a:ext cx="4822825" cy="4770438"/>
          </a:xfrm>
          <a:custGeom>
            <a:avLst/>
            <a:gdLst>
              <a:gd name="txL" fmla="*/ 401 w 21600"/>
              <a:gd name="txT" fmla="*/ 0 h 21600"/>
              <a:gd name="txR" fmla="*/ 21199 w 21600"/>
              <a:gd name="txB" fmla="*/ 13628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lnTo>
                  <a:pt x="323" y="10641"/>
                </a:lnTo>
                <a:close/>
              </a:path>
            </a:pathLst>
          </a:custGeom>
          <a:gradFill rotWithShape="1">
            <a:gsLst>
              <a:gs pos="0">
                <a:srgbClr val="3399FF">
                  <a:alpha val="100000"/>
                </a:srgbClr>
              </a:gs>
              <a:gs pos="50000">
                <a:srgbClr val="A2D1FF">
                  <a:alpha val="100000"/>
                </a:srgbClr>
              </a:gs>
              <a:gs pos="100000">
                <a:srgbClr val="3399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9940" name="AutoShape 4"/>
          <p:cNvSpPr/>
          <p:nvPr/>
        </p:nvSpPr>
        <p:spPr>
          <a:xfrm rot="5400000" flipH="1">
            <a:off x="-1050925" y="2062163"/>
            <a:ext cx="4032250" cy="39306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rgbClr val="3D5192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39941" name="Group 10"/>
          <p:cNvGrpSpPr/>
          <p:nvPr/>
        </p:nvGrpSpPr>
        <p:grpSpPr>
          <a:xfrm>
            <a:off x="2154238" y="1862138"/>
            <a:ext cx="381000" cy="381000"/>
            <a:chOff x="0" y="0"/>
            <a:chExt cx="1615" cy="1615"/>
          </a:xfrm>
        </p:grpSpPr>
        <p:sp>
          <p:nvSpPr>
            <p:cNvPr id="39975" name="Oval 11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76" name="Oval 12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Oval 13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8" name="Oval 14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5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80" name="Oval 16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42" name="Group 17"/>
          <p:cNvGrpSpPr/>
          <p:nvPr/>
        </p:nvGrpSpPr>
        <p:grpSpPr>
          <a:xfrm>
            <a:off x="2865438" y="2714625"/>
            <a:ext cx="381000" cy="381000"/>
            <a:chOff x="0" y="0"/>
            <a:chExt cx="1615" cy="1615"/>
          </a:xfrm>
        </p:grpSpPr>
        <p:sp>
          <p:nvSpPr>
            <p:cNvPr id="39969" name="Oval 18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70" name="Oval 19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20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2" name="Oval 21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7" name="Oval 22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74" name="Oval 23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43" name="Group 24"/>
          <p:cNvGrpSpPr/>
          <p:nvPr/>
        </p:nvGrpSpPr>
        <p:grpSpPr>
          <a:xfrm>
            <a:off x="3090863" y="3659188"/>
            <a:ext cx="381000" cy="381000"/>
            <a:chOff x="0" y="0"/>
            <a:chExt cx="1615" cy="1615"/>
          </a:xfrm>
        </p:grpSpPr>
        <p:sp>
          <p:nvSpPr>
            <p:cNvPr id="39963" name="Oval 25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64" name="Oval 26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6" name="Oval 28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29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8" name="Oval 30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44" name="Group 31"/>
          <p:cNvGrpSpPr/>
          <p:nvPr/>
        </p:nvGrpSpPr>
        <p:grpSpPr>
          <a:xfrm>
            <a:off x="2938463" y="4654550"/>
            <a:ext cx="381000" cy="381000"/>
            <a:chOff x="0" y="0"/>
            <a:chExt cx="1615" cy="1615"/>
          </a:xfrm>
        </p:grpSpPr>
        <p:sp>
          <p:nvSpPr>
            <p:cNvPr id="39957" name="Oval 32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58" name="Oval 33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29" name="Oval 34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0" name="Oval 35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1" name="Oval 36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62" name="Oval 37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945" name="Group 38"/>
          <p:cNvGrpSpPr/>
          <p:nvPr/>
        </p:nvGrpSpPr>
        <p:grpSpPr>
          <a:xfrm>
            <a:off x="2360613" y="5534025"/>
            <a:ext cx="355600" cy="381000"/>
            <a:chOff x="0" y="0"/>
            <a:chExt cx="1615" cy="1615"/>
          </a:xfrm>
        </p:grpSpPr>
        <p:sp>
          <p:nvSpPr>
            <p:cNvPr id="39951" name="Oval 39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952" name="Oval 40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6" name="Oval 41"/>
            <p:cNvSpPr>
              <a:spLocks noChangeArrowheads="1"/>
            </p:cNvSpPr>
            <p:nvPr/>
          </p:nvSpPr>
          <p:spPr bwMode="auto">
            <a:xfrm>
              <a:off x="173" y="17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54" name="Oval 42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8" name="Oval 43"/>
            <p:cNvSpPr>
              <a:spLocks noChangeArrowheads="1"/>
            </p:cNvSpPr>
            <p:nvPr/>
          </p:nvSpPr>
          <p:spPr bwMode="auto">
            <a:xfrm>
              <a:off x="260" y="25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9956" name="Oval 44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946" name="Rectangle 46"/>
          <p:cNvSpPr/>
          <p:nvPr/>
        </p:nvSpPr>
        <p:spPr>
          <a:xfrm>
            <a:off x="1158875" y="3500438"/>
            <a:ext cx="1422400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㈢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病情观察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47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8" name="AutoShape 12"/>
          <p:cNvSpPr/>
          <p:nvPr/>
        </p:nvSpPr>
        <p:spPr>
          <a:xfrm>
            <a:off x="3714750" y="2143125"/>
            <a:ext cx="4214813" cy="3929063"/>
          </a:xfrm>
          <a:prstGeom prst="roundRect">
            <a:avLst>
              <a:gd name="adj" fmla="val 4690"/>
            </a:avLst>
          </a:prstGeom>
          <a:noFill/>
          <a:ln w="57150" cap="flat" cmpd="sng">
            <a:solidFill>
              <a:srgbClr val="008B45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9" name="AutoShape 13"/>
          <p:cNvSpPr/>
          <p:nvPr/>
        </p:nvSpPr>
        <p:spPr>
          <a:xfrm>
            <a:off x="4214813" y="1747838"/>
            <a:ext cx="3198812" cy="5381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2461A">
                  <a:alpha val="100000"/>
                </a:srgbClr>
              </a:gs>
              <a:gs pos="50000">
                <a:srgbClr val="A6682A">
                  <a:alpha val="100000"/>
                </a:srgbClr>
              </a:gs>
              <a:gs pos="100000">
                <a:srgbClr val="C57D35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⑵ 生命体征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50" name="TextBox 57"/>
          <p:cNvSpPr txBox="1"/>
          <p:nvPr/>
        </p:nvSpPr>
        <p:spPr>
          <a:xfrm>
            <a:off x="3786188" y="2462213"/>
            <a:ext cx="4000500" cy="3478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①脉搏细速、呼吸急促、收缩压＜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90mmHg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、脉压＜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20mmHg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休克存在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②血压回升、脉压增大：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休克好转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③呼吸大于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分或小于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分：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病情危重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④感染性休克病人常有高热。若体温突升至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40℃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以上或骤降至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36℃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以下，均提示病情危重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⑤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休克指数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脉率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收缩压（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mmHg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圆角矩形 58"/>
          <p:cNvSpPr/>
          <p:nvPr/>
        </p:nvSpPr>
        <p:spPr>
          <a:xfrm>
            <a:off x="2286000" y="2000250"/>
            <a:ext cx="5715000" cy="71438"/>
          </a:xfrm>
          <a:prstGeom prst="roundRect">
            <a:avLst>
              <a:gd name="adj" fmla="val 16667"/>
            </a:avLst>
          </a:prstGeom>
          <a:solidFill>
            <a:srgbClr val="BC7D3E"/>
          </a:solidFill>
          <a:ln w="9525" cap="flat" cmpd="sng">
            <a:solidFill>
              <a:srgbClr val="3D519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3" name="AutoShape 3"/>
          <p:cNvSpPr/>
          <p:nvPr/>
        </p:nvSpPr>
        <p:spPr>
          <a:xfrm rot="5400000">
            <a:off x="-1454150" y="1625600"/>
            <a:ext cx="4822825" cy="4770438"/>
          </a:xfrm>
          <a:custGeom>
            <a:avLst/>
            <a:gdLst>
              <a:gd name="txL" fmla="*/ 401 w 21600"/>
              <a:gd name="txT" fmla="*/ 0 h 21600"/>
              <a:gd name="txR" fmla="*/ 21199 w 21600"/>
              <a:gd name="txB" fmla="*/ 13628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lnTo>
                  <a:pt x="323" y="10641"/>
                </a:lnTo>
                <a:close/>
              </a:path>
            </a:pathLst>
          </a:custGeom>
          <a:gradFill rotWithShape="1">
            <a:gsLst>
              <a:gs pos="0">
                <a:srgbClr val="3399FF">
                  <a:alpha val="100000"/>
                </a:srgbClr>
              </a:gs>
              <a:gs pos="50000">
                <a:srgbClr val="A2D1FF">
                  <a:alpha val="100000"/>
                </a:srgbClr>
              </a:gs>
              <a:gs pos="100000">
                <a:srgbClr val="3399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0964" name="AutoShape 4"/>
          <p:cNvSpPr/>
          <p:nvPr/>
        </p:nvSpPr>
        <p:spPr>
          <a:xfrm rot="5400000" flipH="1">
            <a:off x="-1050925" y="2062163"/>
            <a:ext cx="4032250" cy="39306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rgbClr val="3D5192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40965" name="Group 10"/>
          <p:cNvGrpSpPr/>
          <p:nvPr/>
        </p:nvGrpSpPr>
        <p:grpSpPr>
          <a:xfrm>
            <a:off x="2154238" y="1862138"/>
            <a:ext cx="381000" cy="381000"/>
            <a:chOff x="0" y="0"/>
            <a:chExt cx="1615" cy="1615"/>
          </a:xfrm>
        </p:grpSpPr>
        <p:sp>
          <p:nvSpPr>
            <p:cNvPr id="40999" name="Oval 11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0" name="Oval 12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Oval 13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2" name="Oval 14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5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4" name="Oval 16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0966" name="Group 17"/>
          <p:cNvGrpSpPr/>
          <p:nvPr/>
        </p:nvGrpSpPr>
        <p:grpSpPr>
          <a:xfrm>
            <a:off x="2865438" y="2714625"/>
            <a:ext cx="381000" cy="381000"/>
            <a:chOff x="0" y="0"/>
            <a:chExt cx="1615" cy="1615"/>
          </a:xfrm>
        </p:grpSpPr>
        <p:sp>
          <p:nvSpPr>
            <p:cNvPr id="40993" name="Oval 18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94" name="Oval 19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20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6" name="Oval 21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41" name="Oval 22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8" name="Oval 23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0967" name="Group 24"/>
          <p:cNvGrpSpPr/>
          <p:nvPr/>
        </p:nvGrpSpPr>
        <p:grpSpPr>
          <a:xfrm>
            <a:off x="3090863" y="3659188"/>
            <a:ext cx="381000" cy="381000"/>
            <a:chOff x="0" y="0"/>
            <a:chExt cx="1615" cy="1615"/>
          </a:xfrm>
        </p:grpSpPr>
        <p:sp>
          <p:nvSpPr>
            <p:cNvPr id="40987" name="Oval 25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8" name="Oval 26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0" name="Oval 28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29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2" name="Oval 30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0968" name="Group 31"/>
          <p:cNvGrpSpPr/>
          <p:nvPr/>
        </p:nvGrpSpPr>
        <p:grpSpPr>
          <a:xfrm>
            <a:off x="2938463" y="4654550"/>
            <a:ext cx="381000" cy="381000"/>
            <a:chOff x="0" y="0"/>
            <a:chExt cx="1615" cy="1615"/>
          </a:xfrm>
        </p:grpSpPr>
        <p:sp>
          <p:nvSpPr>
            <p:cNvPr id="40981" name="Oval 32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82" name="Oval 33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53" name="Oval 34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4" name="Oval 35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55" name="Oval 36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6" name="Oval 37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0969" name="Group 38"/>
          <p:cNvGrpSpPr/>
          <p:nvPr/>
        </p:nvGrpSpPr>
        <p:grpSpPr>
          <a:xfrm>
            <a:off x="2360613" y="5534025"/>
            <a:ext cx="355600" cy="381000"/>
            <a:chOff x="0" y="0"/>
            <a:chExt cx="1615" cy="1615"/>
          </a:xfrm>
        </p:grpSpPr>
        <p:sp>
          <p:nvSpPr>
            <p:cNvPr id="40975" name="Oval 39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6" name="Oval 40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60" name="Oval 41"/>
            <p:cNvSpPr>
              <a:spLocks noChangeArrowheads="1"/>
            </p:cNvSpPr>
            <p:nvPr/>
          </p:nvSpPr>
          <p:spPr bwMode="auto">
            <a:xfrm>
              <a:off x="173" y="17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78" name="Oval 42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62" name="Oval 43"/>
            <p:cNvSpPr>
              <a:spLocks noChangeArrowheads="1"/>
            </p:cNvSpPr>
            <p:nvPr/>
          </p:nvSpPr>
          <p:spPr bwMode="auto">
            <a:xfrm>
              <a:off x="260" y="25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0" name="Oval 44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970" name="Rectangle 46"/>
          <p:cNvSpPr/>
          <p:nvPr/>
        </p:nvSpPr>
        <p:spPr>
          <a:xfrm>
            <a:off x="1158875" y="3500438"/>
            <a:ext cx="1422400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㈢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病情观察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71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2" name="AutoShape 12"/>
          <p:cNvSpPr/>
          <p:nvPr/>
        </p:nvSpPr>
        <p:spPr>
          <a:xfrm>
            <a:off x="4000500" y="2143125"/>
            <a:ext cx="3643313" cy="3857625"/>
          </a:xfrm>
          <a:prstGeom prst="roundRect">
            <a:avLst>
              <a:gd name="adj" fmla="val 4690"/>
            </a:avLst>
          </a:prstGeom>
          <a:noFill/>
          <a:ln w="57150" cap="flat" cmpd="sng">
            <a:solidFill>
              <a:srgbClr val="3D519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73" name="AutoShape 13"/>
          <p:cNvSpPr/>
          <p:nvPr/>
        </p:nvSpPr>
        <p:spPr>
          <a:xfrm>
            <a:off x="4214813" y="1747838"/>
            <a:ext cx="3198812" cy="5381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34F"/>
              </a:gs>
              <a:gs pos="50000">
                <a:srgbClr val="00FFCC"/>
              </a:gs>
              <a:gs pos="100000">
                <a:srgbClr val="00634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⑶ 皮肤色泽和温度</a:t>
            </a:r>
            <a:endParaRPr lang="zh-CN" altLang="en-US" sz="2000" b="1" dirty="0">
              <a:solidFill>
                <a:srgbClr val="00206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74" name="TextBox 57"/>
          <p:cNvSpPr txBox="1"/>
          <p:nvPr/>
        </p:nvSpPr>
        <p:spPr>
          <a:xfrm>
            <a:off x="4143375" y="2500313"/>
            <a:ext cx="3500438" cy="3354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是体表灌流情况的标志</a:t>
            </a:r>
            <a:endParaRPr lang="zh-CN" altLang="en-US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①大多休克病人皮肤和口唇黏膜苍白、发绀或呈花斑状，甚至有瘀斑，四肢湿冷</a:t>
            </a:r>
            <a:endParaRPr lang="zh-CN" altLang="en-US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②肢体皮肤干燥、红润，四肢转暖，说明末梢循环恢复</a:t>
            </a:r>
            <a:endParaRPr lang="zh-CN" altLang="en-US" sz="2400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圆角矩形 58"/>
          <p:cNvSpPr/>
          <p:nvPr/>
        </p:nvSpPr>
        <p:spPr>
          <a:xfrm>
            <a:off x="2357438" y="2000250"/>
            <a:ext cx="5715000" cy="71438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 w="9525" cap="flat" cmpd="sng">
            <a:solidFill>
              <a:srgbClr val="005D2E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AutoShape 3"/>
          <p:cNvSpPr/>
          <p:nvPr/>
        </p:nvSpPr>
        <p:spPr>
          <a:xfrm rot="5400000">
            <a:off x="-1454150" y="1625600"/>
            <a:ext cx="4822825" cy="4770438"/>
          </a:xfrm>
          <a:custGeom>
            <a:avLst/>
            <a:gdLst>
              <a:gd name="txL" fmla="*/ 401 w 21600"/>
              <a:gd name="txT" fmla="*/ 0 h 21600"/>
              <a:gd name="txR" fmla="*/ 21199 w 21600"/>
              <a:gd name="txB" fmla="*/ 13628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lnTo>
                  <a:pt x="323" y="10641"/>
                </a:lnTo>
                <a:close/>
              </a:path>
            </a:pathLst>
          </a:custGeom>
          <a:gradFill rotWithShape="1">
            <a:gsLst>
              <a:gs pos="0">
                <a:srgbClr val="3399FF">
                  <a:alpha val="100000"/>
                </a:srgbClr>
              </a:gs>
              <a:gs pos="50000">
                <a:srgbClr val="A2D1FF">
                  <a:alpha val="100000"/>
                </a:srgbClr>
              </a:gs>
              <a:gs pos="100000">
                <a:srgbClr val="3399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1988" name="AutoShape 4"/>
          <p:cNvSpPr/>
          <p:nvPr/>
        </p:nvSpPr>
        <p:spPr>
          <a:xfrm rot="5400000" flipH="1">
            <a:off x="-1050925" y="2062163"/>
            <a:ext cx="4032250" cy="39306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rgbClr val="3D5192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41989" name="Group 10"/>
          <p:cNvGrpSpPr/>
          <p:nvPr/>
        </p:nvGrpSpPr>
        <p:grpSpPr>
          <a:xfrm>
            <a:off x="2154238" y="1862138"/>
            <a:ext cx="381000" cy="381000"/>
            <a:chOff x="0" y="0"/>
            <a:chExt cx="1615" cy="1615"/>
          </a:xfrm>
        </p:grpSpPr>
        <p:sp>
          <p:nvSpPr>
            <p:cNvPr id="42023" name="Oval 11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24" name="Oval 12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Oval 13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6" name="Oval 14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5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8" name="Oval 16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990" name="Group 17"/>
          <p:cNvGrpSpPr/>
          <p:nvPr/>
        </p:nvGrpSpPr>
        <p:grpSpPr>
          <a:xfrm>
            <a:off x="2865438" y="2714625"/>
            <a:ext cx="381000" cy="381000"/>
            <a:chOff x="0" y="0"/>
            <a:chExt cx="1615" cy="1615"/>
          </a:xfrm>
        </p:grpSpPr>
        <p:sp>
          <p:nvSpPr>
            <p:cNvPr id="42017" name="Oval 18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8" name="Oval 19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20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0" name="Oval 21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5" name="Oval 22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22" name="Oval 23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991" name="Group 24"/>
          <p:cNvGrpSpPr/>
          <p:nvPr/>
        </p:nvGrpSpPr>
        <p:grpSpPr>
          <a:xfrm>
            <a:off x="3090863" y="3659188"/>
            <a:ext cx="381000" cy="381000"/>
            <a:chOff x="0" y="0"/>
            <a:chExt cx="1615" cy="1615"/>
          </a:xfrm>
        </p:grpSpPr>
        <p:sp>
          <p:nvSpPr>
            <p:cNvPr id="42011" name="Oval 25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2" name="Oval 26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4" name="Oval 28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29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6" name="Oval 30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992" name="Group 31"/>
          <p:cNvGrpSpPr/>
          <p:nvPr/>
        </p:nvGrpSpPr>
        <p:grpSpPr>
          <a:xfrm>
            <a:off x="2938463" y="4654550"/>
            <a:ext cx="381000" cy="381000"/>
            <a:chOff x="0" y="0"/>
            <a:chExt cx="1615" cy="1615"/>
          </a:xfrm>
        </p:grpSpPr>
        <p:sp>
          <p:nvSpPr>
            <p:cNvPr id="42005" name="Oval 32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6" name="Oval 33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7" name="Oval 34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8" name="Oval 35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79" name="Oval 36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10" name="Oval 37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993" name="Group 38"/>
          <p:cNvGrpSpPr/>
          <p:nvPr/>
        </p:nvGrpSpPr>
        <p:grpSpPr>
          <a:xfrm>
            <a:off x="2360613" y="5534025"/>
            <a:ext cx="355600" cy="381000"/>
            <a:chOff x="0" y="0"/>
            <a:chExt cx="1615" cy="1615"/>
          </a:xfrm>
        </p:grpSpPr>
        <p:sp>
          <p:nvSpPr>
            <p:cNvPr id="41999" name="Oval 39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0" name="Oval 40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4" name="Oval 41"/>
            <p:cNvSpPr>
              <a:spLocks noChangeArrowheads="1"/>
            </p:cNvSpPr>
            <p:nvPr/>
          </p:nvSpPr>
          <p:spPr bwMode="auto">
            <a:xfrm>
              <a:off x="173" y="17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2" name="Oval 42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86" name="Oval 43"/>
            <p:cNvSpPr>
              <a:spLocks noChangeArrowheads="1"/>
            </p:cNvSpPr>
            <p:nvPr/>
          </p:nvSpPr>
          <p:spPr bwMode="auto">
            <a:xfrm>
              <a:off x="260" y="25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004" name="Oval 44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994" name="Rectangle 46"/>
          <p:cNvSpPr/>
          <p:nvPr/>
        </p:nvSpPr>
        <p:spPr>
          <a:xfrm>
            <a:off x="1158875" y="3500438"/>
            <a:ext cx="1422400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㈢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病情观察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95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6" name="AutoShape 12"/>
          <p:cNvSpPr/>
          <p:nvPr/>
        </p:nvSpPr>
        <p:spPr>
          <a:xfrm>
            <a:off x="4000500" y="2143125"/>
            <a:ext cx="3571875" cy="3929063"/>
          </a:xfrm>
          <a:prstGeom prst="roundRect">
            <a:avLst>
              <a:gd name="adj" fmla="val 4690"/>
            </a:avLst>
          </a:prstGeom>
          <a:noFill/>
          <a:ln w="57150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7" name="TextBox 57"/>
          <p:cNvSpPr txBox="1"/>
          <p:nvPr/>
        </p:nvSpPr>
        <p:spPr>
          <a:xfrm>
            <a:off x="4143375" y="2357438"/>
            <a:ext cx="3357563" cy="3632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可反映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肾血流灌注情况</a:t>
            </a: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，是观察休克变化简便而有效的指标</a:t>
            </a:r>
            <a:endParaRPr lang="zh-CN" altLang="en-US" sz="2000" dirty="0">
              <a:solidFill>
                <a:srgbClr val="7030A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①若尿量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少于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25ml/h</a:t>
            </a: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，表明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血容量不足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②尿量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小于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17ml/h</a:t>
            </a: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、尿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比重低而固定</a:t>
            </a: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者，表明已发生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急性肾功能衰竭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③尿量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大于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30ml/h</a:t>
            </a:r>
            <a:r>
              <a:rPr lang="zh-CN" altLang="en-US" sz="2000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时，表明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休克在改善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998" name="AutoShape 3"/>
          <p:cNvSpPr/>
          <p:nvPr/>
        </p:nvSpPr>
        <p:spPr>
          <a:xfrm>
            <a:off x="4432300" y="1765300"/>
            <a:ext cx="2640013" cy="5207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7676"/>
              </a:gs>
              <a:gs pos="50000">
                <a:srgbClr val="66FFFF"/>
              </a:gs>
              <a:gs pos="100000">
                <a:srgbClr val="2F76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⑷ 尿量</a:t>
            </a:r>
            <a:endParaRPr lang="zh-CN" altLang="en-US" sz="20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圆角矩形 58"/>
          <p:cNvSpPr/>
          <p:nvPr/>
        </p:nvSpPr>
        <p:spPr>
          <a:xfrm>
            <a:off x="2286000" y="2000250"/>
            <a:ext cx="5715000" cy="7143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9525" cap="flat" cmpd="sng">
            <a:solidFill>
              <a:srgbClr val="3D519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1" name="AutoShape 3"/>
          <p:cNvSpPr/>
          <p:nvPr/>
        </p:nvSpPr>
        <p:spPr>
          <a:xfrm rot="5400000">
            <a:off x="-1454150" y="1625600"/>
            <a:ext cx="4822825" cy="4770438"/>
          </a:xfrm>
          <a:custGeom>
            <a:avLst/>
            <a:gdLst>
              <a:gd name="txL" fmla="*/ 401 w 21600"/>
              <a:gd name="txT" fmla="*/ 0 h 21600"/>
              <a:gd name="txR" fmla="*/ 21199 w 21600"/>
              <a:gd name="txB" fmla="*/ 13628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lnTo>
                  <a:pt x="323" y="10641"/>
                </a:lnTo>
                <a:close/>
              </a:path>
            </a:pathLst>
          </a:custGeom>
          <a:gradFill rotWithShape="1">
            <a:gsLst>
              <a:gs pos="0">
                <a:srgbClr val="3399FF">
                  <a:alpha val="100000"/>
                </a:srgbClr>
              </a:gs>
              <a:gs pos="50000">
                <a:srgbClr val="A2D1FF">
                  <a:alpha val="100000"/>
                </a:srgbClr>
              </a:gs>
              <a:gs pos="100000">
                <a:srgbClr val="3399FF">
                  <a:alpha val="10000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3012" name="AutoShape 4"/>
          <p:cNvSpPr/>
          <p:nvPr/>
        </p:nvSpPr>
        <p:spPr>
          <a:xfrm rot="5400000" flipH="1">
            <a:off x="-1050925" y="2062163"/>
            <a:ext cx="4032250" cy="393065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rgbClr val="3D5192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43013" name="Group 10"/>
          <p:cNvGrpSpPr/>
          <p:nvPr/>
        </p:nvGrpSpPr>
        <p:grpSpPr>
          <a:xfrm>
            <a:off x="2154238" y="1862138"/>
            <a:ext cx="381000" cy="381000"/>
            <a:chOff x="0" y="0"/>
            <a:chExt cx="1615" cy="1615"/>
          </a:xfrm>
        </p:grpSpPr>
        <p:sp>
          <p:nvSpPr>
            <p:cNvPr id="43047" name="Oval 11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48" name="Oval 12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Oval 13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0" name="Oval 14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Oval 15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2" name="Oval 16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014" name="Group 17"/>
          <p:cNvGrpSpPr/>
          <p:nvPr/>
        </p:nvGrpSpPr>
        <p:grpSpPr>
          <a:xfrm>
            <a:off x="2865438" y="2714625"/>
            <a:ext cx="381000" cy="381000"/>
            <a:chOff x="0" y="0"/>
            <a:chExt cx="1615" cy="1615"/>
          </a:xfrm>
        </p:grpSpPr>
        <p:sp>
          <p:nvSpPr>
            <p:cNvPr id="43041" name="Oval 18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42" name="Oval 19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Oval 20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4" name="Oval 21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Oval 22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6" name="Oval 23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015" name="Group 24"/>
          <p:cNvGrpSpPr/>
          <p:nvPr/>
        </p:nvGrpSpPr>
        <p:grpSpPr>
          <a:xfrm>
            <a:off x="3090863" y="3659188"/>
            <a:ext cx="381000" cy="381000"/>
            <a:chOff x="0" y="0"/>
            <a:chExt cx="1615" cy="1615"/>
          </a:xfrm>
        </p:grpSpPr>
        <p:sp>
          <p:nvSpPr>
            <p:cNvPr id="43035" name="Oval 25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36" name="Oval 26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Oval 27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8" name="Oval 28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Oval 29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0" name="Oval 30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016" name="Group 31"/>
          <p:cNvGrpSpPr/>
          <p:nvPr/>
        </p:nvGrpSpPr>
        <p:grpSpPr>
          <a:xfrm>
            <a:off x="2938463" y="4654550"/>
            <a:ext cx="381000" cy="381000"/>
            <a:chOff x="0" y="0"/>
            <a:chExt cx="1615" cy="1615"/>
          </a:xfrm>
        </p:grpSpPr>
        <p:sp>
          <p:nvSpPr>
            <p:cNvPr id="43029" name="Oval 32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30" name="Oval 33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1" name="Oval 34"/>
            <p:cNvSpPr>
              <a:spLocks noChangeArrowheads="1"/>
            </p:cNvSpPr>
            <p:nvPr/>
          </p:nvSpPr>
          <p:spPr bwMode="auto">
            <a:xfrm>
              <a:off x="175" y="17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2" name="Oval 35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3" name="Oval 36"/>
            <p:cNvSpPr>
              <a:spLocks noChangeArrowheads="1"/>
            </p:cNvSpPr>
            <p:nvPr/>
          </p:nvSpPr>
          <p:spPr bwMode="auto">
            <a:xfrm>
              <a:off x="256" y="256"/>
              <a:ext cx="1097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4" name="Oval 37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017" name="Group 38"/>
          <p:cNvGrpSpPr/>
          <p:nvPr/>
        </p:nvGrpSpPr>
        <p:grpSpPr>
          <a:xfrm>
            <a:off x="2360613" y="5534025"/>
            <a:ext cx="355600" cy="381000"/>
            <a:chOff x="0" y="0"/>
            <a:chExt cx="1615" cy="1615"/>
          </a:xfrm>
        </p:grpSpPr>
        <p:sp>
          <p:nvSpPr>
            <p:cNvPr id="43023" name="Oval 39"/>
            <p:cNvSpPr/>
            <p:nvPr/>
          </p:nvSpPr>
          <p:spPr>
            <a:xfrm>
              <a:off x="0" y="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024" name="Oval 40"/>
            <p:cNvSpPr/>
            <p:nvPr/>
          </p:nvSpPr>
          <p:spPr>
            <a:xfrm>
              <a:off x="92" y="9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A2A2A2"/>
                </a:gs>
                <a:gs pos="100000">
                  <a:srgbClr val="FFFFFF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8" name="Oval 41"/>
            <p:cNvSpPr>
              <a:spLocks noChangeArrowheads="1"/>
            </p:cNvSpPr>
            <p:nvPr/>
          </p:nvSpPr>
          <p:spPr bwMode="auto">
            <a:xfrm>
              <a:off x="173" y="175"/>
              <a:ext cx="1262" cy="1265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FFFFFF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round/>
            </a:ln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6" name="Oval 42"/>
            <p:cNvSpPr/>
            <p:nvPr/>
          </p:nvSpPr>
          <p:spPr>
            <a:xfrm>
              <a:off x="176" y="17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10" name="Oval 43"/>
            <p:cNvSpPr>
              <a:spLocks noChangeArrowheads="1"/>
            </p:cNvSpPr>
            <p:nvPr/>
          </p:nvSpPr>
          <p:spPr bwMode="auto">
            <a:xfrm>
              <a:off x="260" y="256"/>
              <a:ext cx="1096" cy="1104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50000">
                  <a:srgbClr val="5F5D2C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round/>
            </a:ln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8" name="Oval 44"/>
            <p:cNvSpPr/>
            <p:nvPr/>
          </p:nvSpPr>
          <p:spPr>
            <a:xfrm>
              <a:off x="259" y="25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anchor="ctr" anchorCtr="0">
              <a:sp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ß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Þ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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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/>
                <a:buChar char="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018" name="Rectangle 46"/>
          <p:cNvSpPr/>
          <p:nvPr/>
        </p:nvSpPr>
        <p:spPr>
          <a:xfrm>
            <a:off x="1158875" y="3500438"/>
            <a:ext cx="1422400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㈢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病情观察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9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0" name="AutoShape 12"/>
          <p:cNvSpPr/>
          <p:nvPr/>
        </p:nvSpPr>
        <p:spPr>
          <a:xfrm>
            <a:off x="4214813" y="2143125"/>
            <a:ext cx="3357562" cy="3857625"/>
          </a:xfrm>
          <a:prstGeom prst="roundRect">
            <a:avLst>
              <a:gd name="adj" fmla="val 4690"/>
            </a:avLst>
          </a:prstGeom>
          <a:noFill/>
          <a:ln w="57150" cap="flat" cmpd="sng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1" name="AutoShape 13"/>
          <p:cNvSpPr/>
          <p:nvPr/>
        </p:nvSpPr>
        <p:spPr>
          <a:xfrm>
            <a:off x="4500563" y="1747838"/>
            <a:ext cx="2786062" cy="5381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34F"/>
              </a:gs>
              <a:gs pos="50000">
                <a:srgbClr val="00FFCC"/>
              </a:gs>
              <a:gs pos="100000">
                <a:srgbClr val="00634F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4572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⑸辅助动态监测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22" name="TextBox 57"/>
          <p:cNvSpPr txBox="1"/>
          <p:nvPr/>
        </p:nvSpPr>
        <p:spPr>
          <a:xfrm>
            <a:off x="4357688" y="2441575"/>
            <a:ext cx="3143250" cy="3416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定时监测，了解休克状态和治疗效果：</a:t>
            </a:r>
            <a:endParaRPr lang="zh-CN" altLang="en-US" sz="24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血尿粪常规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血电解质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肝肾功能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血气分析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中心静脉压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肺毛细血管楔压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 · ·</a:t>
            </a:r>
            <a:endParaRPr lang="zh-CN" altLang="en-US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034" name="Group 2"/>
          <p:cNvGrpSpPr/>
          <p:nvPr/>
        </p:nvGrpSpPr>
        <p:grpSpPr>
          <a:xfrm rot="-5400000">
            <a:off x="1165225" y="3292475"/>
            <a:ext cx="4111625" cy="1130300"/>
            <a:chOff x="0" y="0"/>
            <a:chExt cx="2658" cy="984"/>
          </a:xfrm>
        </p:grpSpPr>
        <p:sp>
          <p:nvSpPr>
            <p:cNvPr id="44080" name="Freeform 3"/>
            <p:cNvSpPr/>
            <p:nvPr/>
          </p:nvSpPr>
          <p:spPr>
            <a:xfrm>
              <a:off x="0" y="11"/>
              <a:ext cx="1197" cy="867"/>
            </a:xfrm>
            <a:custGeom>
              <a:avLst/>
              <a:gdLst>
                <a:gd name="txL" fmla="*/ 0 w 735"/>
                <a:gd name="txT" fmla="*/ 0 h 532"/>
                <a:gd name="txR" fmla="*/ 735 w 735"/>
                <a:gd name="txB" fmla="*/ 532 h 532"/>
              </a:gdLst>
              <a:ahLst/>
              <a:cxnLst>
                <a:cxn ang="0">
                  <a:pos x="0" y="0"/>
                </a:cxn>
                <a:cxn ang="0">
                  <a:pos x="1013" y="536"/>
                </a:cxn>
                <a:cxn ang="0">
                  <a:pos x="1531" y="536"/>
                </a:cxn>
                <a:cxn ang="0">
                  <a:pos x="1689" y="662"/>
                </a:cxn>
                <a:cxn ang="0">
                  <a:pos x="1695" y="1067"/>
                </a:cxn>
                <a:cxn ang="0">
                  <a:pos x="1586" y="1063"/>
                </a:cxn>
                <a:cxn ang="0">
                  <a:pos x="1775" y="1413"/>
                </a:cxn>
                <a:cxn ang="0">
                  <a:pos x="1949" y="1067"/>
                </a:cxn>
                <a:cxn ang="0">
                  <a:pos x="1845" y="1067"/>
                </a:cxn>
                <a:cxn ang="0">
                  <a:pos x="1840" y="600"/>
                </a:cxn>
                <a:cxn ang="0">
                  <a:pos x="1633" y="398"/>
                </a:cxn>
                <a:cxn ang="0">
                  <a:pos x="889" y="396"/>
                </a:cxn>
                <a:cxn ang="0">
                  <a:pos x="182" y="0"/>
                </a:cxn>
                <a:cxn ang="0">
                  <a:pos x="0" y="0"/>
                </a:cxn>
              </a:cxnLst>
              <a:rect l="txL" t="txT" r="txR" b="txB"/>
              <a:pathLst>
                <a:path w="735" h="532">
                  <a:moveTo>
                    <a:pt x="0" y="0"/>
                  </a:moveTo>
                  <a:cubicBezTo>
                    <a:pt x="0" y="0"/>
                    <a:pt x="85" y="216"/>
                    <a:pt x="382" y="202"/>
                  </a:cubicBezTo>
                  <a:cubicBezTo>
                    <a:pt x="479" y="202"/>
                    <a:pt x="577" y="202"/>
                    <a:pt x="577" y="202"/>
                  </a:cubicBezTo>
                  <a:cubicBezTo>
                    <a:pt x="577" y="202"/>
                    <a:pt x="639" y="201"/>
                    <a:pt x="637" y="249"/>
                  </a:cubicBezTo>
                  <a:cubicBezTo>
                    <a:pt x="638" y="325"/>
                    <a:pt x="639" y="402"/>
                    <a:pt x="639" y="402"/>
                  </a:cubicBezTo>
                  <a:lnTo>
                    <a:pt x="598" y="400"/>
                  </a:lnTo>
                  <a:lnTo>
                    <a:pt x="669" y="532"/>
                  </a:lnTo>
                  <a:lnTo>
                    <a:pt x="735" y="402"/>
                  </a:lnTo>
                  <a:lnTo>
                    <a:pt x="696" y="402"/>
                  </a:lnTo>
                  <a:cubicBezTo>
                    <a:pt x="696" y="402"/>
                    <a:pt x="695" y="314"/>
                    <a:pt x="694" y="226"/>
                  </a:cubicBezTo>
                  <a:cubicBezTo>
                    <a:pt x="687" y="160"/>
                    <a:pt x="616" y="150"/>
                    <a:pt x="616" y="150"/>
                  </a:cubicBezTo>
                  <a:cubicBezTo>
                    <a:pt x="556" y="137"/>
                    <a:pt x="473" y="153"/>
                    <a:pt x="335" y="149"/>
                  </a:cubicBezTo>
                  <a:cubicBezTo>
                    <a:pt x="110" y="126"/>
                    <a:pt x="69" y="0"/>
                    <a:pt x="69" y="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81" name="Freeform 4"/>
            <p:cNvSpPr/>
            <p:nvPr/>
          </p:nvSpPr>
          <p:spPr>
            <a:xfrm>
              <a:off x="1210" y="0"/>
              <a:ext cx="231" cy="984"/>
            </a:xfrm>
            <a:custGeom>
              <a:avLst/>
              <a:gdLst>
                <a:gd name="txL" fmla="*/ 0 w 142"/>
                <a:gd name="txT" fmla="*/ 0 h 604"/>
                <a:gd name="txR" fmla="*/ 142 w 142"/>
                <a:gd name="txB" fmla="*/ 604 h 604"/>
              </a:gdLst>
              <a:ahLst/>
              <a:cxnLst>
                <a:cxn ang="0">
                  <a:pos x="98" y="3"/>
                </a:cxn>
                <a:cxn ang="0">
                  <a:pos x="119" y="1253"/>
                </a:cxn>
                <a:cxn ang="0">
                  <a:pos x="0" y="1258"/>
                </a:cxn>
                <a:cxn ang="0">
                  <a:pos x="190" y="1603"/>
                </a:cxn>
                <a:cxn ang="0">
                  <a:pos x="376" y="1258"/>
                </a:cxn>
                <a:cxn ang="0">
                  <a:pos x="265" y="1258"/>
                </a:cxn>
                <a:cxn ang="0">
                  <a:pos x="262" y="0"/>
                </a:cxn>
                <a:cxn ang="0">
                  <a:pos x="98" y="3"/>
                </a:cxn>
              </a:cxnLst>
              <a:rect l="txL" t="txT" r="txR" b="txB"/>
              <a:pathLst>
                <a:path w="142" h="604">
                  <a:moveTo>
                    <a:pt x="37" y="1"/>
                  </a:moveTo>
                  <a:lnTo>
                    <a:pt x="45" y="472"/>
                  </a:lnTo>
                  <a:lnTo>
                    <a:pt x="0" y="474"/>
                  </a:lnTo>
                  <a:lnTo>
                    <a:pt x="72" y="604"/>
                  </a:lnTo>
                  <a:lnTo>
                    <a:pt x="142" y="474"/>
                  </a:lnTo>
                  <a:lnTo>
                    <a:pt x="100" y="474"/>
                  </a:lnTo>
                  <a:lnTo>
                    <a:pt x="99" y="0"/>
                  </a:lnTo>
                  <a:lnTo>
                    <a:pt x="37" y="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82" name="Freeform 5"/>
            <p:cNvSpPr/>
            <p:nvPr/>
          </p:nvSpPr>
          <p:spPr>
            <a:xfrm flipH="1">
              <a:off x="1461" y="11"/>
              <a:ext cx="1197" cy="867"/>
            </a:xfrm>
            <a:custGeom>
              <a:avLst/>
              <a:gdLst>
                <a:gd name="txL" fmla="*/ 0 w 735"/>
                <a:gd name="txT" fmla="*/ 0 h 532"/>
                <a:gd name="txR" fmla="*/ 735 w 735"/>
                <a:gd name="txB" fmla="*/ 532 h 532"/>
              </a:gdLst>
              <a:ahLst/>
              <a:cxnLst>
                <a:cxn ang="0">
                  <a:pos x="0" y="0"/>
                </a:cxn>
                <a:cxn ang="0">
                  <a:pos x="1013" y="536"/>
                </a:cxn>
                <a:cxn ang="0">
                  <a:pos x="1531" y="536"/>
                </a:cxn>
                <a:cxn ang="0">
                  <a:pos x="1689" y="662"/>
                </a:cxn>
                <a:cxn ang="0">
                  <a:pos x="1695" y="1067"/>
                </a:cxn>
                <a:cxn ang="0">
                  <a:pos x="1586" y="1063"/>
                </a:cxn>
                <a:cxn ang="0">
                  <a:pos x="1775" y="1413"/>
                </a:cxn>
                <a:cxn ang="0">
                  <a:pos x="1949" y="1067"/>
                </a:cxn>
                <a:cxn ang="0">
                  <a:pos x="1845" y="1067"/>
                </a:cxn>
                <a:cxn ang="0">
                  <a:pos x="1840" y="600"/>
                </a:cxn>
                <a:cxn ang="0">
                  <a:pos x="1633" y="398"/>
                </a:cxn>
                <a:cxn ang="0">
                  <a:pos x="889" y="396"/>
                </a:cxn>
                <a:cxn ang="0">
                  <a:pos x="182" y="0"/>
                </a:cxn>
                <a:cxn ang="0">
                  <a:pos x="0" y="0"/>
                </a:cxn>
              </a:cxnLst>
              <a:rect l="txL" t="txT" r="txR" b="txB"/>
              <a:pathLst>
                <a:path w="735" h="532">
                  <a:moveTo>
                    <a:pt x="0" y="0"/>
                  </a:moveTo>
                  <a:cubicBezTo>
                    <a:pt x="0" y="0"/>
                    <a:pt x="85" y="216"/>
                    <a:pt x="382" y="202"/>
                  </a:cubicBezTo>
                  <a:cubicBezTo>
                    <a:pt x="479" y="202"/>
                    <a:pt x="577" y="202"/>
                    <a:pt x="577" y="202"/>
                  </a:cubicBezTo>
                  <a:cubicBezTo>
                    <a:pt x="577" y="202"/>
                    <a:pt x="639" y="201"/>
                    <a:pt x="637" y="249"/>
                  </a:cubicBezTo>
                  <a:cubicBezTo>
                    <a:pt x="638" y="325"/>
                    <a:pt x="639" y="402"/>
                    <a:pt x="639" y="402"/>
                  </a:cubicBezTo>
                  <a:lnTo>
                    <a:pt x="598" y="400"/>
                  </a:lnTo>
                  <a:lnTo>
                    <a:pt x="669" y="532"/>
                  </a:lnTo>
                  <a:lnTo>
                    <a:pt x="735" y="402"/>
                  </a:lnTo>
                  <a:lnTo>
                    <a:pt x="696" y="402"/>
                  </a:lnTo>
                  <a:cubicBezTo>
                    <a:pt x="696" y="402"/>
                    <a:pt x="695" y="314"/>
                    <a:pt x="694" y="226"/>
                  </a:cubicBezTo>
                  <a:cubicBezTo>
                    <a:pt x="687" y="160"/>
                    <a:pt x="616" y="150"/>
                    <a:pt x="616" y="150"/>
                  </a:cubicBezTo>
                  <a:cubicBezTo>
                    <a:pt x="556" y="137"/>
                    <a:pt x="473" y="153"/>
                    <a:pt x="335" y="149"/>
                  </a:cubicBezTo>
                  <a:cubicBezTo>
                    <a:pt x="110" y="126"/>
                    <a:pt x="69" y="0"/>
                    <a:pt x="69" y="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4035" name="Group 6"/>
          <p:cNvGrpSpPr/>
          <p:nvPr/>
        </p:nvGrpSpPr>
        <p:grpSpPr>
          <a:xfrm rot="5400000" flipH="1">
            <a:off x="3990975" y="3259138"/>
            <a:ext cx="4111625" cy="1193800"/>
            <a:chOff x="0" y="0"/>
            <a:chExt cx="2658" cy="984"/>
          </a:xfrm>
        </p:grpSpPr>
        <p:sp>
          <p:nvSpPr>
            <p:cNvPr id="44077" name="Freeform 7"/>
            <p:cNvSpPr/>
            <p:nvPr/>
          </p:nvSpPr>
          <p:spPr>
            <a:xfrm>
              <a:off x="0" y="12"/>
              <a:ext cx="1197" cy="868"/>
            </a:xfrm>
            <a:custGeom>
              <a:avLst/>
              <a:gdLst>
                <a:gd name="txL" fmla="*/ 0 w 735"/>
                <a:gd name="txT" fmla="*/ 0 h 532"/>
                <a:gd name="txR" fmla="*/ 735 w 735"/>
                <a:gd name="txB" fmla="*/ 532 h 532"/>
              </a:gdLst>
              <a:ahLst/>
              <a:cxnLst>
                <a:cxn ang="0">
                  <a:pos x="0" y="0"/>
                </a:cxn>
                <a:cxn ang="0">
                  <a:pos x="1013" y="538"/>
                </a:cxn>
                <a:cxn ang="0">
                  <a:pos x="1531" y="538"/>
                </a:cxn>
                <a:cxn ang="0">
                  <a:pos x="1689" y="662"/>
                </a:cxn>
                <a:cxn ang="0">
                  <a:pos x="1695" y="1070"/>
                </a:cxn>
                <a:cxn ang="0">
                  <a:pos x="1586" y="1065"/>
                </a:cxn>
                <a:cxn ang="0">
                  <a:pos x="1775" y="1416"/>
                </a:cxn>
                <a:cxn ang="0">
                  <a:pos x="1949" y="1070"/>
                </a:cxn>
                <a:cxn ang="0">
                  <a:pos x="1845" y="1070"/>
                </a:cxn>
                <a:cxn ang="0">
                  <a:pos x="1840" y="602"/>
                </a:cxn>
                <a:cxn ang="0">
                  <a:pos x="1633" y="400"/>
                </a:cxn>
                <a:cxn ang="0">
                  <a:pos x="889" y="396"/>
                </a:cxn>
                <a:cxn ang="0">
                  <a:pos x="182" y="0"/>
                </a:cxn>
                <a:cxn ang="0">
                  <a:pos x="0" y="0"/>
                </a:cxn>
              </a:cxnLst>
              <a:rect l="txL" t="txT" r="txR" b="txB"/>
              <a:pathLst>
                <a:path w="735" h="532">
                  <a:moveTo>
                    <a:pt x="0" y="0"/>
                  </a:moveTo>
                  <a:cubicBezTo>
                    <a:pt x="0" y="0"/>
                    <a:pt x="85" y="216"/>
                    <a:pt x="382" y="202"/>
                  </a:cubicBezTo>
                  <a:cubicBezTo>
                    <a:pt x="479" y="202"/>
                    <a:pt x="577" y="202"/>
                    <a:pt x="577" y="202"/>
                  </a:cubicBezTo>
                  <a:cubicBezTo>
                    <a:pt x="577" y="202"/>
                    <a:pt x="639" y="201"/>
                    <a:pt x="637" y="249"/>
                  </a:cubicBezTo>
                  <a:cubicBezTo>
                    <a:pt x="638" y="325"/>
                    <a:pt x="639" y="402"/>
                    <a:pt x="639" y="402"/>
                  </a:cubicBezTo>
                  <a:lnTo>
                    <a:pt x="598" y="400"/>
                  </a:lnTo>
                  <a:lnTo>
                    <a:pt x="669" y="532"/>
                  </a:lnTo>
                  <a:lnTo>
                    <a:pt x="735" y="402"/>
                  </a:lnTo>
                  <a:lnTo>
                    <a:pt x="696" y="402"/>
                  </a:lnTo>
                  <a:cubicBezTo>
                    <a:pt x="696" y="402"/>
                    <a:pt x="695" y="314"/>
                    <a:pt x="694" y="226"/>
                  </a:cubicBezTo>
                  <a:cubicBezTo>
                    <a:pt x="687" y="160"/>
                    <a:pt x="616" y="150"/>
                    <a:pt x="616" y="150"/>
                  </a:cubicBezTo>
                  <a:cubicBezTo>
                    <a:pt x="556" y="137"/>
                    <a:pt x="473" y="153"/>
                    <a:pt x="335" y="149"/>
                  </a:cubicBezTo>
                  <a:cubicBezTo>
                    <a:pt x="110" y="126"/>
                    <a:pt x="69" y="0"/>
                    <a:pt x="69" y="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78" name="Freeform 8"/>
            <p:cNvSpPr/>
            <p:nvPr/>
          </p:nvSpPr>
          <p:spPr>
            <a:xfrm>
              <a:off x="1209" y="0"/>
              <a:ext cx="231" cy="984"/>
            </a:xfrm>
            <a:custGeom>
              <a:avLst/>
              <a:gdLst>
                <a:gd name="txL" fmla="*/ 0 w 142"/>
                <a:gd name="txT" fmla="*/ 0 h 604"/>
                <a:gd name="txR" fmla="*/ 142 w 142"/>
                <a:gd name="txB" fmla="*/ 604 h 604"/>
              </a:gdLst>
              <a:ahLst/>
              <a:cxnLst>
                <a:cxn ang="0">
                  <a:pos x="98" y="3"/>
                </a:cxn>
                <a:cxn ang="0">
                  <a:pos x="119" y="1253"/>
                </a:cxn>
                <a:cxn ang="0">
                  <a:pos x="0" y="1258"/>
                </a:cxn>
                <a:cxn ang="0">
                  <a:pos x="190" y="1603"/>
                </a:cxn>
                <a:cxn ang="0">
                  <a:pos x="376" y="1258"/>
                </a:cxn>
                <a:cxn ang="0">
                  <a:pos x="265" y="1258"/>
                </a:cxn>
                <a:cxn ang="0">
                  <a:pos x="262" y="0"/>
                </a:cxn>
                <a:cxn ang="0">
                  <a:pos x="98" y="3"/>
                </a:cxn>
              </a:cxnLst>
              <a:rect l="txL" t="txT" r="txR" b="txB"/>
              <a:pathLst>
                <a:path w="142" h="604">
                  <a:moveTo>
                    <a:pt x="37" y="1"/>
                  </a:moveTo>
                  <a:lnTo>
                    <a:pt x="45" y="472"/>
                  </a:lnTo>
                  <a:lnTo>
                    <a:pt x="0" y="474"/>
                  </a:lnTo>
                  <a:lnTo>
                    <a:pt x="72" y="604"/>
                  </a:lnTo>
                  <a:lnTo>
                    <a:pt x="142" y="474"/>
                  </a:lnTo>
                  <a:lnTo>
                    <a:pt x="100" y="474"/>
                  </a:lnTo>
                  <a:lnTo>
                    <a:pt x="99" y="0"/>
                  </a:lnTo>
                  <a:lnTo>
                    <a:pt x="37" y="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79" name="Freeform 9"/>
            <p:cNvSpPr/>
            <p:nvPr/>
          </p:nvSpPr>
          <p:spPr>
            <a:xfrm flipH="1">
              <a:off x="1461" y="12"/>
              <a:ext cx="1197" cy="868"/>
            </a:xfrm>
            <a:custGeom>
              <a:avLst/>
              <a:gdLst>
                <a:gd name="txL" fmla="*/ 0 w 735"/>
                <a:gd name="txT" fmla="*/ 0 h 532"/>
                <a:gd name="txR" fmla="*/ 735 w 735"/>
                <a:gd name="txB" fmla="*/ 532 h 532"/>
              </a:gdLst>
              <a:ahLst/>
              <a:cxnLst>
                <a:cxn ang="0">
                  <a:pos x="0" y="0"/>
                </a:cxn>
                <a:cxn ang="0">
                  <a:pos x="1013" y="538"/>
                </a:cxn>
                <a:cxn ang="0">
                  <a:pos x="1531" y="538"/>
                </a:cxn>
                <a:cxn ang="0">
                  <a:pos x="1689" y="662"/>
                </a:cxn>
                <a:cxn ang="0">
                  <a:pos x="1695" y="1070"/>
                </a:cxn>
                <a:cxn ang="0">
                  <a:pos x="1586" y="1065"/>
                </a:cxn>
                <a:cxn ang="0">
                  <a:pos x="1775" y="1416"/>
                </a:cxn>
                <a:cxn ang="0">
                  <a:pos x="1949" y="1070"/>
                </a:cxn>
                <a:cxn ang="0">
                  <a:pos x="1845" y="1070"/>
                </a:cxn>
                <a:cxn ang="0">
                  <a:pos x="1840" y="602"/>
                </a:cxn>
                <a:cxn ang="0">
                  <a:pos x="1633" y="400"/>
                </a:cxn>
                <a:cxn ang="0">
                  <a:pos x="889" y="396"/>
                </a:cxn>
                <a:cxn ang="0">
                  <a:pos x="182" y="0"/>
                </a:cxn>
                <a:cxn ang="0">
                  <a:pos x="0" y="0"/>
                </a:cxn>
              </a:cxnLst>
              <a:rect l="txL" t="txT" r="txR" b="txB"/>
              <a:pathLst>
                <a:path w="735" h="532">
                  <a:moveTo>
                    <a:pt x="0" y="0"/>
                  </a:moveTo>
                  <a:cubicBezTo>
                    <a:pt x="0" y="0"/>
                    <a:pt x="85" y="216"/>
                    <a:pt x="382" y="202"/>
                  </a:cubicBezTo>
                  <a:cubicBezTo>
                    <a:pt x="479" y="202"/>
                    <a:pt x="577" y="202"/>
                    <a:pt x="577" y="202"/>
                  </a:cubicBezTo>
                  <a:cubicBezTo>
                    <a:pt x="577" y="202"/>
                    <a:pt x="639" y="201"/>
                    <a:pt x="637" y="249"/>
                  </a:cubicBezTo>
                  <a:cubicBezTo>
                    <a:pt x="638" y="325"/>
                    <a:pt x="639" y="402"/>
                    <a:pt x="639" y="402"/>
                  </a:cubicBezTo>
                  <a:lnTo>
                    <a:pt x="598" y="400"/>
                  </a:lnTo>
                  <a:lnTo>
                    <a:pt x="669" y="532"/>
                  </a:lnTo>
                  <a:lnTo>
                    <a:pt x="735" y="402"/>
                  </a:lnTo>
                  <a:lnTo>
                    <a:pt x="696" y="402"/>
                  </a:lnTo>
                  <a:cubicBezTo>
                    <a:pt x="696" y="402"/>
                    <a:pt x="695" y="314"/>
                    <a:pt x="694" y="226"/>
                  </a:cubicBezTo>
                  <a:cubicBezTo>
                    <a:pt x="687" y="160"/>
                    <a:pt x="616" y="150"/>
                    <a:pt x="616" y="150"/>
                  </a:cubicBezTo>
                  <a:cubicBezTo>
                    <a:pt x="556" y="137"/>
                    <a:pt x="473" y="153"/>
                    <a:pt x="335" y="149"/>
                  </a:cubicBezTo>
                  <a:cubicBezTo>
                    <a:pt x="110" y="126"/>
                    <a:pt x="69" y="0"/>
                    <a:pt x="69" y="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4036" name="Group 10"/>
          <p:cNvGrpSpPr/>
          <p:nvPr/>
        </p:nvGrpSpPr>
        <p:grpSpPr>
          <a:xfrm>
            <a:off x="3802063" y="3014663"/>
            <a:ext cx="1660525" cy="1612900"/>
            <a:chOff x="0" y="0"/>
            <a:chExt cx="901" cy="888"/>
          </a:xfrm>
        </p:grpSpPr>
        <p:pic>
          <p:nvPicPr>
            <p:cNvPr id="44061" name="Picture 11" descr="circuler_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901" cy="88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44062" name="Oval 12"/>
            <p:cNvGrpSpPr/>
            <p:nvPr/>
          </p:nvGrpSpPr>
          <p:grpSpPr>
            <a:xfrm>
              <a:off x="-2" y="-2"/>
              <a:ext cx="900" cy="893"/>
              <a:chOff x="0" y="0"/>
              <a:chExt cx="1658112" cy="1621536"/>
            </a:xfrm>
          </p:grpSpPr>
          <p:pic>
            <p:nvPicPr>
              <p:cNvPr id="44075" name="Oval 1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1658112" cy="162153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44076" name="Text Box 14"/>
              <p:cNvSpPr txBox="1"/>
              <p:nvPr/>
            </p:nvSpPr>
            <p:spPr>
              <a:xfrm>
                <a:off x="245814" y="239443"/>
                <a:ext cx="1166349" cy="11404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ß"/>
                  <a:defRPr kumimoji="0"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Þ"/>
                  <a:defRPr kumimoji="0"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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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/>
                  <a:buChar char="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endParaRPr lang="zh-CN" altLang="en-US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4063" name="Freeform 13"/>
            <p:cNvSpPr/>
            <p:nvPr/>
          </p:nvSpPr>
          <p:spPr>
            <a:xfrm>
              <a:off x="93" y="18"/>
              <a:ext cx="703" cy="308"/>
            </a:xfrm>
            <a:custGeom>
              <a:avLst/>
              <a:gdLst>
                <a:gd name="txL" fmla="*/ 0 w 1321"/>
                <a:gd name="txT" fmla="*/ 0 h 712"/>
                <a:gd name="txR" fmla="*/ 1321 w 1321"/>
                <a:gd name="txB" fmla="*/ 712 h 712"/>
              </a:gdLst>
              <a:ahLst/>
              <a:cxnLst>
                <a:cxn ang="0">
                  <a:pos x="196" y="32"/>
                </a:cxn>
                <a:cxn ang="0">
                  <a:pos x="199" y="36"/>
                </a:cxn>
                <a:cxn ang="0">
                  <a:pos x="199" y="39"/>
                </a:cxn>
                <a:cxn ang="0">
                  <a:pos x="199" y="42"/>
                </a:cxn>
                <a:cxn ang="0">
                  <a:pos x="196" y="45"/>
                </a:cxn>
                <a:cxn ang="0">
                  <a:pos x="192" y="47"/>
                </a:cxn>
                <a:cxn ang="0">
                  <a:pos x="187" y="49"/>
                </a:cxn>
                <a:cxn ang="0">
                  <a:pos x="180" y="51"/>
                </a:cxn>
                <a:cxn ang="0">
                  <a:pos x="173" y="53"/>
                </a:cxn>
                <a:cxn ang="0">
                  <a:pos x="164" y="54"/>
                </a:cxn>
                <a:cxn ang="0">
                  <a:pos x="155" y="55"/>
                </a:cxn>
                <a:cxn ang="0">
                  <a:pos x="146" y="56"/>
                </a:cxn>
                <a:cxn ang="0">
                  <a:pos x="135" y="57"/>
                </a:cxn>
                <a:cxn ang="0">
                  <a:pos x="125" y="58"/>
                </a:cxn>
                <a:cxn ang="0">
                  <a:pos x="120" y="58"/>
                </a:cxn>
                <a:cxn ang="0">
                  <a:pos x="72" y="58"/>
                </a:cxn>
                <a:cxn ang="0">
                  <a:pos x="71" y="58"/>
                </a:cxn>
                <a:cxn ang="0">
                  <a:pos x="62" y="57"/>
                </a:cxn>
                <a:cxn ang="0">
                  <a:pos x="52" y="57"/>
                </a:cxn>
                <a:cxn ang="0">
                  <a:pos x="44" y="56"/>
                </a:cxn>
                <a:cxn ang="0">
                  <a:pos x="36" y="56"/>
                </a:cxn>
                <a:cxn ang="0">
                  <a:pos x="28" y="55"/>
                </a:cxn>
                <a:cxn ang="0">
                  <a:pos x="21" y="54"/>
                </a:cxn>
                <a:cxn ang="0">
                  <a:pos x="15" y="52"/>
                </a:cxn>
                <a:cxn ang="0">
                  <a:pos x="10" y="51"/>
                </a:cxn>
                <a:cxn ang="0">
                  <a:pos x="6" y="49"/>
                </a:cxn>
                <a:cxn ang="0">
                  <a:pos x="3" y="47"/>
                </a:cxn>
                <a:cxn ang="0">
                  <a:pos x="1" y="45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" y="39"/>
                </a:cxn>
                <a:cxn ang="0">
                  <a:pos x="3" y="36"/>
                </a:cxn>
                <a:cxn ang="0">
                  <a:pos x="7" y="30"/>
                </a:cxn>
                <a:cxn ang="0">
                  <a:pos x="14" y="24"/>
                </a:cxn>
                <a:cxn ang="0">
                  <a:pos x="22" y="19"/>
                </a:cxn>
                <a:cxn ang="0">
                  <a:pos x="31" y="14"/>
                </a:cxn>
                <a:cxn ang="0">
                  <a:pos x="41" y="10"/>
                </a:cxn>
                <a:cxn ang="0">
                  <a:pos x="51" y="6"/>
                </a:cxn>
                <a:cxn ang="0">
                  <a:pos x="63" y="4"/>
                </a:cxn>
                <a:cxn ang="0">
                  <a:pos x="75" y="2"/>
                </a:cxn>
                <a:cxn ang="0">
                  <a:pos x="87" y="0"/>
                </a:cxn>
                <a:cxn ang="0">
                  <a:pos x="101" y="0"/>
                </a:cxn>
                <a:cxn ang="0">
                  <a:pos x="101" y="0"/>
                </a:cxn>
                <a:cxn ang="0">
                  <a:pos x="114" y="0"/>
                </a:cxn>
                <a:cxn ang="0">
                  <a:pos x="128" y="2"/>
                </a:cxn>
                <a:cxn ang="0">
                  <a:pos x="140" y="4"/>
                </a:cxn>
                <a:cxn ang="0">
                  <a:pos x="152" y="7"/>
                </a:cxn>
                <a:cxn ang="0">
                  <a:pos x="163" y="11"/>
                </a:cxn>
                <a:cxn ang="0">
                  <a:pos x="173" y="16"/>
                </a:cxn>
                <a:cxn ang="0">
                  <a:pos x="182" y="21"/>
                </a:cxn>
                <a:cxn ang="0">
                  <a:pos x="189" y="26"/>
                </a:cxn>
                <a:cxn ang="0">
                  <a:pos x="196" y="32"/>
                </a:cxn>
                <a:cxn ang="0">
                  <a:pos x="196" y="32"/>
                </a:cxn>
              </a:cxnLst>
              <a:rect l="txL" t="txT" r="txR" b="tx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DDDDD">
                    <a:alpha val="100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4064" name="Group 14"/>
            <p:cNvGrpSpPr/>
            <p:nvPr/>
          </p:nvGrpSpPr>
          <p:grpSpPr>
            <a:xfrm rot="-1297425" flipH="1" flipV="1">
              <a:off x="64" y="686"/>
              <a:ext cx="783" cy="182"/>
              <a:chOff x="0" y="0"/>
              <a:chExt cx="894" cy="236"/>
            </a:xfrm>
          </p:grpSpPr>
          <p:grpSp>
            <p:nvGrpSpPr>
              <p:cNvPr id="44065" name="Group 15"/>
              <p:cNvGrpSpPr/>
              <p:nvPr/>
            </p:nvGrpSpPr>
            <p:grpSpPr>
              <a:xfrm>
                <a:off x="0" y="0"/>
                <a:ext cx="742" cy="186"/>
                <a:chOff x="0" y="0"/>
                <a:chExt cx="1118" cy="279"/>
              </a:xfrm>
            </p:grpSpPr>
            <p:sp>
              <p:nvSpPr>
                <p:cNvPr id="44071" name="AutoShape 16"/>
                <p:cNvSpPr/>
                <p:nvPr/>
              </p:nvSpPr>
              <p:spPr>
                <a:xfrm rot="5263130">
                  <a:off x="292" y="-29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072" name="AutoShape 17"/>
                <p:cNvSpPr/>
                <p:nvPr/>
              </p:nvSpPr>
              <p:spPr>
                <a:xfrm rot="6078281">
                  <a:off x="428" y="-29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073" name="AutoShape 18"/>
                <p:cNvSpPr/>
                <p:nvPr/>
              </p:nvSpPr>
              <p:spPr>
                <a:xfrm rot="6373927">
                  <a:off x="504" y="-272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074" name="AutoShape 19"/>
                <p:cNvSpPr/>
                <p:nvPr/>
              </p:nvSpPr>
              <p:spPr>
                <a:xfrm rot="6906312">
                  <a:off x="594" y="-242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4066" name="Group 20"/>
              <p:cNvGrpSpPr/>
              <p:nvPr/>
            </p:nvGrpSpPr>
            <p:grpSpPr>
              <a:xfrm rot="1353540">
                <a:off x="152" y="50"/>
                <a:ext cx="742" cy="186"/>
                <a:chOff x="0" y="0"/>
                <a:chExt cx="1118" cy="279"/>
              </a:xfrm>
            </p:grpSpPr>
            <p:sp>
              <p:nvSpPr>
                <p:cNvPr id="44067" name="AutoShape 21"/>
                <p:cNvSpPr/>
                <p:nvPr/>
              </p:nvSpPr>
              <p:spPr>
                <a:xfrm rot="5263130">
                  <a:off x="292" y="-29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068" name="AutoShape 22"/>
                <p:cNvSpPr/>
                <p:nvPr/>
              </p:nvSpPr>
              <p:spPr>
                <a:xfrm rot="6078281">
                  <a:off x="428" y="-294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069" name="AutoShape 23"/>
                <p:cNvSpPr/>
                <p:nvPr/>
              </p:nvSpPr>
              <p:spPr>
                <a:xfrm rot="6373927">
                  <a:off x="504" y="-272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070" name="AutoShape 24"/>
                <p:cNvSpPr/>
                <p:nvPr/>
              </p:nvSpPr>
              <p:spPr>
                <a:xfrm rot="6906312">
                  <a:off x="594" y="-242"/>
                  <a:ext cx="227" cy="816"/>
                </a:xfrm>
                <a:prstGeom prst="moon">
                  <a:avLst>
                    <a:gd name="adj" fmla="val 49773"/>
                  </a:avLst>
                </a:prstGeom>
                <a:solidFill>
                  <a:srgbClr val="F8F8F8">
                    <a:alpha val="3922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>
                  <a:lvl1pPr marL="342900" indent="-3429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ß"/>
                    <a:defRPr kumimoji="0"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Þ"/>
                    <a:defRPr kumimoji="0"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"/>
                    <a:defRPr kumimoji="0"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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1" latinLnBrk="0" hangingPunct="1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/>
                    <a:buChar char=""/>
                    <a:defRPr kumimoji="0"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ClrTx/>
                    <a:buSzTx/>
                    <a:buFont typeface="Arial" panose="020B0604020202020204" pitchFamily="34" charset="0"/>
                    <a:buNone/>
                  </a:pPr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44037" name="Group 25"/>
          <p:cNvGrpSpPr/>
          <p:nvPr/>
        </p:nvGrpSpPr>
        <p:grpSpPr>
          <a:xfrm>
            <a:off x="642938" y="1673225"/>
            <a:ext cx="2106612" cy="1322388"/>
            <a:chOff x="0" y="0"/>
            <a:chExt cx="414" cy="402"/>
          </a:xfrm>
        </p:grpSpPr>
        <p:sp>
          <p:nvSpPr>
            <p:cNvPr id="44059" name="AutoShape 26"/>
            <p:cNvSpPr/>
            <p:nvPr/>
          </p:nvSpPr>
          <p:spPr>
            <a:xfrm>
              <a:off x="0" y="0"/>
              <a:ext cx="414" cy="402"/>
            </a:xfrm>
            <a:prstGeom prst="roundRect">
              <a:avLst>
                <a:gd name="adj" fmla="val 11921"/>
              </a:avLst>
            </a:prstGeom>
            <a:solidFill>
              <a:srgbClr val="00CCFF"/>
            </a:solidFill>
            <a:ln w="25400" cap="flat" cmpd="sng">
              <a:solidFill>
                <a:srgbClr val="FEFEFE"/>
              </a:solidFill>
              <a:prstDash val="solid"/>
              <a:headEnd type="none" w="med" len="med"/>
              <a:tailEnd type="none" w="med" len="med"/>
            </a:ln>
            <a:effectLst>
              <a:outerShdw dist="53882" dir="2699999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60" name="Freeform 27"/>
            <p:cNvSpPr/>
            <p:nvPr/>
          </p:nvSpPr>
          <p:spPr>
            <a:xfrm>
              <a:off x="26" y="26"/>
              <a:ext cx="206" cy="201"/>
            </a:xfrm>
            <a:custGeom>
              <a:avLst/>
              <a:gdLst>
                <a:gd name="txL" fmla="*/ 0 w 596"/>
                <a:gd name="txT" fmla="*/ 0 h 598"/>
                <a:gd name="txR" fmla="*/ 596 w 596"/>
                <a:gd name="txB" fmla="*/ 598 h 598"/>
              </a:gdLst>
              <a:ahLst/>
              <a:cxnLst>
                <a:cxn ang="0">
                  <a:pos x="5" y="0"/>
                </a:cxn>
                <a:cxn ang="0">
                  <a:pos x="0" y="4"/>
                </a:cxn>
                <a:cxn ang="0">
                  <a:pos x="0" y="23"/>
                </a:cxn>
                <a:cxn ang="0">
                  <a:pos x="7" y="6"/>
                </a:cxn>
                <a:cxn ang="0">
                  <a:pos x="25" y="0"/>
                </a:cxn>
                <a:cxn ang="0">
                  <a:pos x="5" y="0"/>
                </a:cxn>
              </a:cxnLst>
              <a:rect l="txL" t="txT" r="txR" b="tx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solidFill>
              <a:srgbClr val="00CCFF">
                <a:alpha val="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4038" name="AutoShape 28"/>
          <p:cNvSpPr/>
          <p:nvPr/>
        </p:nvSpPr>
        <p:spPr>
          <a:xfrm>
            <a:off x="642938" y="3175000"/>
            <a:ext cx="2128837" cy="1322388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accent2"/>
              </a:gs>
              <a:gs pos="100000">
                <a:srgbClr val="008E47"/>
              </a:gs>
            </a:gsLst>
            <a:lin ang="5400000" scaled="1"/>
            <a:tileRect/>
          </a:gradFill>
          <a:ln w="25400" cap="flat" cmpd="sng">
            <a:solidFill>
              <a:srgbClr val="FEFEFE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000000">
                <a:alpha val="50000"/>
              </a:srgbClr>
            </a:outerShdw>
          </a:effectLst>
        </p:spPr>
        <p:txBody>
          <a:bodyPr wrap="none" anchor="ctr" anchorCtr="0"/>
          <a:p>
            <a:pPr eaLnBrk="1" hangingPunct="1">
              <a:buNone/>
            </a:pP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27" name="Freeform 29"/>
          <p:cNvSpPr>
            <a:spLocks noChangeArrowheads="1"/>
          </p:cNvSpPr>
          <p:nvPr/>
        </p:nvSpPr>
        <p:spPr bwMode="auto">
          <a:xfrm>
            <a:off x="714375" y="3260725"/>
            <a:ext cx="677863" cy="660400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alpha val="0"/>
                </a:schemeClr>
              </a:gs>
              <a:gs pos="50000">
                <a:srgbClr val="838383"/>
              </a:gs>
              <a:gs pos="100000">
                <a:schemeClr val="tx1">
                  <a:alpha val="0"/>
                </a:schemeClr>
              </a:gs>
            </a:gsLst>
            <a:lin ang="18900000" scaled="1"/>
          </a:gra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40" name="AutoShape 30"/>
          <p:cNvSpPr/>
          <p:nvPr/>
        </p:nvSpPr>
        <p:spPr>
          <a:xfrm>
            <a:off x="642938" y="4697413"/>
            <a:ext cx="2143125" cy="1322387"/>
          </a:xfrm>
          <a:prstGeom prst="roundRect">
            <a:avLst>
              <a:gd name="adj" fmla="val 11921"/>
            </a:avLst>
          </a:prstGeom>
          <a:solidFill>
            <a:srgbClr val="99CC00"/>
          </a:solidFill>
          <a:ln w="25400" cap="flat" cmpd="sng">
            <a:solidFill>
              <a:srgbClr val="FEFEFE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000000">
                <a:alpha val="50000"/>
              </a:srgbClr>
            </a:outerShdw>
          </a:effectLst>
        </p:spPr>
        <p:txBody>
          <a:bodyPr wrap="none" anchor="ctr" anchorCtr="0"/>
          <a:p>
            <a:pPr eaLnBrk="1" hangingPunct="1">
              <a:buNone/>
            </a:pP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29" name="Freeform 31"/>
          <p:cNvSpPr>
            <a:spLocks noChangeArrowheads="1"/>
          </p:cNvSpPr>
          <p:nvPr/>
        </p:nvSpPr>
        <p:spPr bwMode="auto">
          <a:xfrm>
            <a:off x="714375" y="4783138"/>
            <a:ext cx="677863" cy="660400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alpha val="0"/>
                </a:schemeClr>
              </a:gs>
              <a:gs pos="50000">
                <a:srgbClr val="838383"/>
              </a:gs>
              <a:gs pos="100000">
                <a:schemeClr val="tx1">
                  <a:alpha val="0"/>
                </a:schemeClr>
              </a:gs>
            </a:gsLst>
            <a:lin ang="18900000" scaled="1"/>
          </a:gra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042" name="Group 32"/>
          <p:cNvGrpSpPr/>
          <p:nvPr/>
        </p:nvGrpSpPr>
        <p:grpSpPr>
          <a:xfrm>
            <a:off x="6459538" y="1673225"/>
            <a:ext cx="2041525" cy="1322388"/>
            <a:chOff x="0" y="0"/>
            <a:chExt cx="414" cy="402"/>
          </a:xfrm>
        </p:grpSpPr>
        <p:sp>
          <p:nvSpPr>
            <p:cNvPr id="44057" name="AutoShape 33"/>
            <p:cNvSpPr/>
            <p:nvPr/>
          </p:nvSpPr>
          <p:spPr>
            <a:xfrm>
              <a:off x="0" y="0"/>
              <a:ext cx="414" cy="402"/>
            </a:xfrm>
            <a:prstGeom prst="roundRect">
              <a:avLst>
                <a:gd name="adj" fmla="val 11921"/>
              </a:avLst>
            </a:prstGeom>
            <a:solidFill>
              <a:srgbClr val="00CCFF"/>
            </a:solidFill>
            <a:ln w="25400" cap="flat" cmpd="sng">
              <a:solidFill>
                <a:srgbClr val="FEFEFE"/>
              </a:solidFill>
              <a:prstDash val="solid"/>
              <a:headEnd type="none" w="med" len="med"/>
              <a:tailEnd type="none" w="med" len="med"/>
            </a:ln>
            <a:effectLst>
              <a:outerShdw dist="53882" dir="2699999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 anchorCtr="0"/>
            <a:p>
              <a:pPr eaLnBrk="1" hangingPunct="1">
                <a:buNone/>
              </a:pP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58" name="Freeform 34"/>
            <p:cNvSpPr/>
            <p:nvPr/>
          </p:nvSpPr>
          <p:spPr>
            <a:xfrm>
              <a:off x="26" y="26"/>
              <a:ext cx="206" cy="201"/>
            </a:xfrm>
            <a:custGeom>
              <a:avLst/>
              <a:gdLst>
                <a:gd name="txL" fmla="*/ 0 w 596"/>
                <a:gd name="txT" fmla="*/ 0 h 598"/>
                <a:gd name="txR" fmla="*/ 596 w 596"/>
                <a:gd name="txB" fmla="*/ 598 h 598"/>
              </a:gdLst>
              <a:ahLst/>
              <a:cxnLst>
                <a:cxn ang="0">
                  <a:pos x="5" y="0"/>
                </a:cxn>
                <a:cxn ang="0">
                  <a:pos x="0" y="4"/>
                </a:cxn>
                <a:cxn ang="0">
                  <a:pos x="0" y="23"/>
                </a:cxn>
                <a:cxn ang="0">
                  <a:pos x="7" y="6"/>
                </a:cxn>
                <a:cxn ang="0">
                  <a:pos x="25" y="0"/>
                </a:cxn>
                <a:cxn ang="0">
                  <a:pos x="5" y="0"/>
                </a:cxn>
              </a:cxnLst>
              <a:rect l="txL" t="txT" r="txR" b="txB"/>
              <a:pathLst>
                <a:path w="596" h="598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lnTo>
                    <a:pt x="0" y="589"/>
                  </a:lnTo>
                  <a:cubicBezTo>
                    <a:pt x="27" y="598"/>
                    <a:pt x="12" y="309"/>
                    <a:pt x="161" y="174"/>
                  </a:cubicBezTo>
                  <a:cubicBezTo>
                    <a:pt x="310" y="39"/>
                    <a:pt x="596" y="29"/>
                    <a:pt x="589" y="0"/>
                  </a:cubicBezTo>
                  <a:lnTo>
                    <a:pt x="118" y="0"/>
                  </a:lnTo>
                  <a:close/>
                </a:path>
              </a:pathLst>
            </a:custGeom>
            <a:solidFill>
              <a:srgbClr val="00CCFF">
                <a:alpha val="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4043" name="AutoShape 35"/>
          <p:cNvSpPr/>
          <p:nvPr/>
        </p:nvSpPr>
        <p:spPr>
          <a:xfrm>
            <a:off x="6481763" y="3175000"/>
            <a:ext cx="2019300" cy="1322388"/>
          </a:xfrm>
          <a:prstGeom prst="roundRect">
            <a:avLst>
              <a:gd name="adj" fmla="val 11921"/>
            </a:avLst>
          </a:prstGeom>
          <a:gradFill rotWithShape="1">
            <a:gsLst>
              <a:gs pos="0">
                <a:schemeClr val="accent2"/>
              </a:gs>
              <a:gs pos="100000">
                <a:srgbClr val="008E47"/>
              </a:gs>
            </a:gsLst>
            <a:lin ang="5400000" scaled="1"/>
            <a:tileRect/>
          </a:gradFill>
          <a:ln w="25400" cap="flat" cmpd="sng">
            <a:solidFill>
              <a:srgbClr val="FEFEFE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000000">
                <a:alpha val="50000"/>
              </a:srgbClr>
            </a:outerShdw>
          </a:effectLst>
        </p:spPr>
        <p:txBody>
          <a:bodyPr wrap="none" anchor="ctr" anchorCtr="0"/>
          <a:p>
            <a:pPr eaLnBrk="1" hangingPunct="1">
              <a:buNone/>
            </a:pP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34" name="Freeform 36"/>
          <p:cNvSpPr>
            <a:spLocks noChangeArrowheads="1"/>
          </p:cNvSpPr>
          <p:nvPr/>
        </p:nvSpPr>
        <p:spPr bwMode="auto">
          <a:xfrm>
            <a:off x="6567488" y="3260725"/>
            <a:ext cx="677863" cy="660400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alpha val="0"/>
                </a:schemeClr>
              </a:gs>
              <a:gs pos="50000">
                <a:srgbClr val="838383"/>
              </a:gs>
              <a:gs pos="100000">
                <a:schemeClr val="tx1">
                  <a:alpha val="0"/>
                </a:schemeClr>
              </a:gs>
            </a:gsLst>
            <a:lin ang="18900000" scaled="1"/>
          </a:gra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45" name="AutoShape 37"/>
          <p:cNvSpPr/>
          <p:nvPr/>
        </p:nvSpPr>
        <p:spPr>
          <a:xfrm>
            <a:off x="6496050" y="4697413"/>
            <a:ext cx="2005013" cy="1322387"/>
          </a:xfrm>
          <a:prstGeom prst="roundRect">
            <a:avLst>
              <a:gd name="adj" fmla="val 11921"/>
            </a:avLst>
          </a:prstGeom>
          <a:solidFill>
            <a:srgbClr val="99CC00"/>
          </a:solidFill>
          <a:ln w="25400" cap="flat" cmpd="sng">
            <a:solidFill>
              <a:srgbClr val="FEFEFE"/>
            </a:solidFill>
            <a:prstDash val="solid"/>
            <a:headEnd type="none" w="med" len="med"/>
            <a:tailEnd type="none" w="med" len="med"/>
          </a:ln>
          <a:effectLst>
            <a:outerShdw dist="53882" dir="2699999" algn="ctr" rotWithShape="0">
              <a:srgbClr val="000000">
                <a:alpha val="50000"/>
              </a:srgbClr>
            </a:outerShdw>
          </a:effectLst>
        </p:spPr>
        <p:txBody>
          <a:bodyPr wrap="none" anchor="ctr" anchorCtr="0"/>
          <a:p>
            <a:pPr eaLnBrk="1" hangingPunct="1">
              <a:buNone/>
            </a:pP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36" name="Freeform 38"/>
          <p:cNvSpPr>
            <a:spLocks noChangeArrowheads="1"/>
          </p:cNvSpPr>
          <p:nvPr/>
        </p:nvSpPr>
        <p:spPr bwMode="auto">
          <a:xfrm>
            <a:off x="6581775" y="4783138"/>
            <a:ext cx="677863" cy="660400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alpha val="0"/>
                </a:schemeClr>
              </a:gs>
              <a:gs pos="50000">
                <a:srgbClr val="838383"/>
              </a:gs>
              <a:gs pos="100000">
                <a:schemeClr val="tx1">
                  <a:alpha val="0"/>
                </a:schemeClr>
              </a:gs>
            </a:gsLst>
            <a:lin ang="18900000" scaled="1"/>
          </a:gra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37" name="Rectangle 39"/>
          <p:cNvSpPr>
            <a:spLocks noChangeArrowheads="1"/>
          </p:cNvSpPr>
          <p:nvPr/>
        </p:nvSpPr>
        <p:spPr bwMode="auto">
          <a:xfrm>
            <a:off x="785813" y="2143125"/>
            <a:ext cx="1806575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⑴扩容的护理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38" name="Rectangle 40"/>
          <p:cNvSpPr>
            <a:spLocks noChangeArrowheads="1"/>
          </p:cNvSpPr>
          <p:nvPr/>
        </p:nvSpPr>
        <p:spPr bwMode="auto">
          <a:xfrm>
            <a:off x="785813" y="3503613"/>
            <a:ext cx="18065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⑵应用血管活性药物的护理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39" name="Rectangle 41"/>
          <p:cNvSpPr>
            <a:spLocks noChangeArrowheads="1"/>
          </p:cNvSpPr>
          <p:nvPr/>
        </p:nvSpPr>
        <p:spPr bwMode="auto">
          <a:xfrm>
            <a:off x="785813" y="5000625"/>
            <a:ext cx="18065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⑶配合处理原发病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40" name="Rectangle 42"/>
          <p:cNvSpPr>
            <a:spLocks noChangeArrowheads="1"/>
          </p:cNvSpPr>
          <p:nvPr/>
        </p:nvSpPr>
        <p:spPr bwMode="auto">
          <a:xfrm>
            <a:off x="6643688" y="1984375"/>
            <a:ext cx="1760538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⑷纠正代谢紊乱的护理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41" name="Rectangle 43"/>
          <p:cNvSpPr>
            <a:spLocks noChangeArrowheads="1"/>
          </p:cNvSpPr>
          <p:nvPr/>
        </p:nvSpPr>
        <p:spPr bwMode="auto">
          <a:xfrm>
            <a:off x="6643688" y="3503613"/>
            <a:ext cx="1760538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⑸维护重要器官功能的护理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42" name="Rectangle 44"/>
          <p:cNvSpPr>
            <a:spLocks noChangeArrowheads="1"/>
          </p:cNvSpPr>
          <p:nvPr/>
        </p:nvSpPr>
        <p:spPr bwMode="auto">
          <a:xfrm>
            <a:off x="6715125" y="5172075"/>
            <a:ext cx="1714500" cy="40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⑹防止感染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4053" name="Rectangle 45"/>
          <p:cNvSpPr/>
          <p:nvPr/>
        </p:nvSpPr>
        <p:spPr>
          <a:xfrm>
            <a:off x="3833813" y="3241675"/>
            <a:ext cx="16002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9966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endParaRPr lang="en-US" altLang="zh-CN" sz="2400" b="1" dirty="0">
              <a:solidFill>
                <a:srgbClr val="9966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9966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rgbClr val="9966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44" name="Freeform 46"/>
          <p:cNvSpPr>
            <a:spLocks noChangeArrowheads="1"/>
          </p:cNvSpPr>
          <p:nvPr/>
        </p:nvSpPr>
        <p:spPr bwMode="auto">
          <a:xfrm>
            <a:off x="714375" y="1760538"/>
            <a:ext cx="677863" cy="660400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alpha val="0"/>
                </a:schemeClr>
              </a:gs>
              <a:gs pos="50000">
                <a:srgbClr val="838383"/>
              </a:gs>
              <a:gs pos="100000">
                <a:schemeClr val="tx1">
                  <a:alpha val="0"/>
                </a:schemeClr>
              </a:gs>
            </a:gsLst>
            <a:lin ang="18900000" scaled="1"/>
          </a:gra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45" name="Freeform 47"/>
          <p:cNvSpPr>
            <a:spLocks noChangeArrowheads="1"/>
          </p:cNvSpPr>
          <p:nvPr/>
        </p:nvSpPr>
        <p:spPr bwMode="auto">
          <a:xfrm>
            <a:off x="6538913" y="1760538"/>
            <a:ext cx="677863" cy="660400"/>
          </a:xfrm>
          <a:custGeom>
            <a:avLst/>
            <a:gdLst>
              <a:gd name="T0" fmla="*/ 118 w 596"/>
              <a:gd name="T1" fmla="*/ 0 h 598"/>
              <a:gd name="T2" fmla="*/ 0 w 596"/>
              <a:gd name="T3" fmla="*/ 118 h 598"/>
              <a:gd name="T4" fmla="*/ 0 w 596"/>
              <a:gd name="T5" fmla="*/ 589 h 598"/>
              <a:gd name="T6" fmla="*/ 161 w 596"/>
              <a:gd name="T7" fmla="*/ 174 h 598"/>
              <a:gd name="T8" fmla="*/ 589 w 596"/>
              <a:gd name="T9" fmla="*/ 0 h 598"/>
              <a:gd name="T10" fmla="*/ 118 w 596"/>
              <a:gd name="T11" fmla="*/ 0 h 59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96"/>
              <a:gd name="T19" fmla="*/ 0 h 598"/>
              <a:gd name="T20" fmla="*/ 596 w 596"/>
              <a:gd name="T21" fmla="*/ 598 h 59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alpha val="0"/>
                </a:schemeClr>
              </a:gs>
              <a:gs pos="50000">
                <a:srgbClr val="838383"/>
              </a:gs>
              <a:gs pos="100000">
                <a:schemeClr val="tx1">
                  <a:alpha val="0"/>
                </a:schemeClr>
              </a:gs>
            </a:gsLst>
            <a:lin ang="18900000" scaled="1"/>
          </a:gradFill>
          <a:ln w="9525">
            <a:noFill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56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圆角矩形 38"/>
          <p:cNvSpPr/>
          <p:nvPr/>
        </p:nvSpPr>
        <p:spPr>
          <a:xfrm>
            <a:off x="847725" y="1928813"/>
            <a:ext cx="7572375" cy="1571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59" name="圆角矩形 27"/>
          <p:cNvSpPr/>
          <p:nvPr/>
        </p:nvSpPr>
        <p:spPr>
          <a:xfrm>
            <a:off x="847725" y="3786188"/>
            <a:ext cx="7572375" cy="2357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Freeform 36"/>
          <p:cNvSpPr/>
          <p:nvPr/>
        </p:nvSpPr>
        <p:spPr>
          <a:xfrm>
            <a:off x="822325" y="1900238"/>
            <a:ext cx="7607300" cy="1814512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7463010" y="640416"/>
              </a:cxn>
              <a:cxn ang="0">
                <a:pos x="2697425" y="644863"/>
              </a:cxn>
              <a:cxn ang="0">
                <a:pos x="2497022" y="573706"/>
              </a:cxn>
              <a:cxn ang="0">
                <a:pos x="2136297" y="175670"/>
              </a:cxn>
              <a:cxn ang="0">
                <a:pos x="1849720" y="8895"/>
              </a:cxn>
              <a:cxn ang="0">
                <a:pos x="206415" y="8895"/>
              </a:cxn>
              <a:cxn ang="0">
                <a:pos x="4008" y="195683"/>
              </a:cxn>
              <a:cxn ang="0">
                <a:pos x="4008" y="1621053"/>
              </a:cxn>
              <a:cxn ang="0">
                <a:pos x="206415" y="1787828"/>
              </a:cxn>
              <a:cxn ang="0">
                <a:pos x="7390865" y="1787828"/>
              </a:cxn>
              <a:cxn ang="0">
                <a:pos x="7595276" y="1592145"/>
              </a:cxn>
              <a:cxn ang="0">
                <a:pos x="7595276" y="791625"/>
              </a:cxn>
              <a:cxn ang="0">
                <a:pos x="7463010" y="640416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5061" name="Rectangle 41"/>
          <p:cNvSpPr/>
          <p:nvPr/>
        </p:nvSpPr>
        <p:spPr>
          <a:xfrm>
            <a:off x="776288" y="2043113"/>
            <a:ext cx="221932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Rectangle 41"/>
          <p:cNvSpPr>
            <a:spLocks noChangeArrowheads="1"/>
          </p:cNvSpPr>
          <p:nvPr/>
        </p:nvSpPr>
        <p:spPr bwMode="auto">
          <a:xfrm>
            <a:off x="3643313" y="2028825"/>
            <a:ext cx="2643188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⑴扩容的护理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5064" name="圆角矩形 40"/>
          <p:cNvSpPr/>
          <p:nvPr/>
        </p:nvSpPr>
        <p:spPr>
          <a:xfrm>
            <a:off x="1000125" y="2714625"/>
            <a:ext cx="7286625" cy="3286125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扩容是运用输液、输血等方法使病人有效循环血量迅速得到恢复，是治疗休克最基本也是最有效的措施。 </a:t>
            </a:r>
            <a:endParaRPr lang="zh-CN" altLang="en-US" sz="2400" dirty="0">
              <a:solidFill>
                <a:srgbClr val="FF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①建立静脉通道：尽快建立两条以上静脉输液通道，大量快速补液（心源性休克除外）。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②合理补液：根据用药目的，正确执行医嘱，合理安排输液顺序。根据病人心、肺功能，失血、失液量，血压及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CVP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值调整输液量和速度（见下表）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圆角矩形 5"/>
          <p:cNvSpPr/>
          <p:nvPr/>
        </p:nvSpPr>
        <p:spPr>
          <a:xfrm>
            <a:off x="500063" y="1671638"/>
            <a:ext cx="8286750" cy="16859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3" name="圆角矩形 6"/>
          <p:cNvSpPr/>
          <p:nvPr/>
        </p:nvSpPr>
        <p:spPr>
          <a:xfrm>
            <a:off x="500063" y="3429000"/>
            <a:ext cx="8286750" cy="2928938"/>
          </a:xfrm>
          <a:prstGeom prst="roundRect">
            <a:avLst>
              <a:gd name="adj" fmla="val 8616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Freeform 36"/>
          <p:cNvSpPr/>
          <p:nvPr/>
        </p:nvSpPr>
        <p:spPr>
          <a:xfrm>
            <a:off x="474663" y="1643063"/>
            <a:ext cx="8324850" cy="1785937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8166950" y="630331"/>
              </a:cxn>
              <a:cxn ang="0">
                <a:pos x="2951857" y="634708"/>
              </a:cxn>
              <a:cxn ang="0">
                <a:pos x="2732551" y="564671"/>
              </a:cxn>
              <a:cxn ang="0">
                <a:pos x="2337800" y="172903"/>
              </a:cxn>
              <a:cxn ang="0">
                <a:pos x="2024193" y="8755"/>
              </a:cxn>
              <a:cxn ang="0">
                <a:pos x="225885" y="8755"/>
              </a:cxn>
              <a:cxn ang="0">
                <a:pos x="4386" y="192601"/>
              </a:cxn>
              <a:cxn ang="0">
                <a:pos x="4386" y="1595525"/>
              </a:cxn>
              <a:cxn ang="0">
                <a:pos x="225885" y="1759673"/>
              </a:cxn>
              <a:cxn ang="0">
                <a:pos x="8088000" y="1759673"/>
              </a:cxn>
              <a:cxn ang="0">
                <a:pos x="8311692" y="1567072"/>
              </a:cxn>
              <a:cxn ang="0">
                <a:pos x="8311692" y="779159"/>
              </a:cxn>
              <a:cxn ang="0">
                <a:pos x="8166950" y="630331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6085" name="Rectangle 41"/>
          <p:cNvSpPr/>
          <p:nvPr/>
        </p:nvSpPr>
        <p:spPr>
          <a:xfrm>
            <a:off x="428625" y="1785938"/>
            <a:ext cx="242887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Rectangle 41"/>
          <p:cNvSpPr>
            <a:spLocks noChangeArrowheads="1"/>
          </p:cNvSpPr>
          <p:nvPr/>
        </p:nvSpPr>
        <p:spPr bwMode="auto">
          <a:xfrm>
            <a:off x="3295650" y="1771650"/>
            <a:ext cx="2892425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⑴扩容的护理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087" name="圆角矩形 11"/>
          <p:cNvSpPr/>
          <p:nvPr/>
        </p:nvSpPr>
        <p:spPr>
          <a:xfrm>
            <a:off x="642938" y="2428875"/>
            <a:ext cx="8001000" cy="3786188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752" name="Group 8"/>
          <p:cNvGraphicFramePr>
            <a:graphicFrameLocks noGrp="1"/>
          </p:cNvGraphicFramePr>
          <p:nvPr>
            <p:ph idx="1"/>
          </p:nvPr>
        </p:nvGraphicFramePr>
        <p:xfrm>
          <a:off x="944563" y="3105150"/>
          <a:ext cx="7572375" cy="3068638"/>
        </p:xfrm>
        <a:graphic>
          <a:graphicData uri="http://schemas.openxmlformats.org/drawingml/2006/table">
            <a:tbl>
              <a:tblPr/>
              <a:tblGrid>
                <a:gridCol w="1781175"/>
                <a:gridCol w="942975"/>
                <a:gridCol w="2289175"/>
                <a:gridCol w="2559050"/>
              </a:tblGrid>
              <a:tr h="478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中心静脉压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血压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原因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处理原则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836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血容量严重不足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充分补液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</a:tr>
              <a:tr h="3836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血容量不足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适当补液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</a:tr>
              <a:tr h="6783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心功能不全或血容量相对过多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给强心药，纠正酸中毒，舒张血管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</a:tr>
              <a:tr h="3836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容量血管过度收缩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舒张血管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EF6"/>
                    </a:solidFill>
                  </a:tcPr>
                </a:tc>
              </a:tr>
              <a:tr h="6783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正常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心功能不全或血容量不足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809625" algn="l"/>
                        </a:tabLst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补液试验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DBED"/>
                    </a:solidFill>
                  </a:tcPr>
                </a:tc>
              </a:tr>
            </a:tbl>
          </a:graphicData>
        </a:graphic>
      </p:graphicFrame>
      <p:sp>
        <p:nvSpPr>
          <p:cNvPr id="46125" name="矩形 4"/>
          <p:cNvSpPr/>
          <p:nvPr/>
        </p:nvSpPr>
        <p:spPr>
          <a:xfrm>
            <a:off x="2786063" y="2600325"/>
            <a:ext cx="3775075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3E5FB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中心静脉压及血压与补液的关系</a:t>
            </a:r>
            <a:endParaRPr lang="zh-CN" altLang="en-US" sz="2000" b="1" dirty="0">
              <a:solidFill>
                <a:srgbClr val="3E5FB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126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圆角矩形 38"/>
          <p:cNvSpPr/>
          <p:nvPr/>
        </p:nvSpPr>
        <p:spPr>
          <a:xfrm>
            <a:off x="847725" y="1928813"/>
            <a:ext cx="7572375" cy="1571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7" name="圆角矩形 27"/>
          <p:cNvSpPr/>
          <p:nvPr/>
        </p:nvSpPr>
        <p:spPr>
          <a:xfrm>
            <a:off x="847725" y="3786188"/>
            <a:ext cx="7572375" cy="2357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08" name="Freeform 36"/>
          <p:cNvSpPr/>
          <p:nvPr/>
        </p:nvSpPr>
        <p:spPr>
          <a:xfrm>
            <a:off x="822325" y="1900238"/>
            <a:ext cx="7607300" cy="1814512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7463010" y="640416"/>
              </a:cxn>
              <a:cxn ang="0">
                <a:pos x="2697425" y="644863"/>
              </a:cxn>
              <a:cxn ang="0">
                <a:pos x="2497022" y="573706"/>
              </a:cxn>
              <a:cxn ang="0">
                <a:pos x="2136297" y="175670"/>
              </a:cxn>
              <a:cxn ang="0">
                <a:pos x="1849720" y="8895"/>
              </a:cxn>
              <a:cxn ang="0">
                <a:pos x="206415" y="8895"/>
              </a:cxn>
              <a:cxn ang="0">
                <a:pos x="4008" y="195683"/>
              </a:cxn>
              <a:cxn ang="0">
                <a:pos x="4008" y="1621053"/>
              </a:cxn>
              <a:cxn ang="0">
                <a:pos x="206415" y="1787828"/>
              </a:cxn>
              <a:cxn ang="0">
                <a:pos x="7390865" y="1787828"/>
              </a:cxn>
              <a:cxn ang="0">
                <a:pos x="7595276" y="1592145"/>
              </a:cxn>
              <a:cxn ang="0">
                <a:pos x="7595276" y="791625"/>
              </a:cxn>
              <a:cxn ang="0">
                <a:pos x="7463010" y="640416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7109" name="Rectangle 41"/>
          <p:cNvSpPr/>
          <p:nvPr/>
        </p:nvSpPr>
        <p:spPr>
          <a:xfrm>
            <a:off x="776288" y="2043113"/>
            <a:ext cx="221932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110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41"/>
          <p:cNvSpPr>
            <a:spLocks noChangeArrowheads="1"/>
          </p:cNvSpPr>
          <p:nvPr/>
        </p:nvSpPr>
        <p:spPr bwMode="auto">
          <a:xfrm>
            <a:off x="3643313" y="2028825"/>
            <a:ext cx="3714750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⑵应用血管活性药物的护理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12" name="圆角矩形 40"/>
          <p:cNvSpPr/>
          <p:nvPr/>
        </p:nvSpPr>
        <p:spPr>
          <a:xfrm>
            <a:off x="1000125" y="2714625"/>
            <a:ext cx="7286625" cy="3286125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9966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①使用血管活性药物要从小剂量、低浓度开始，遵医嘱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控制输入速度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9966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②血管扩张药物必须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在补足血容量的基础上使用</a:t>
            </a:r>
            <a:r>
              <a:rPr lang="zh-CN" altLang="en-US" sz="2400" dirty="0">
                <a:solidFill>
                  <a:srgbClr val="9966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，否则会导致血压急剧下降</a:t>
            </a:r>
            <a:endParaRPr lang="zh-CN" altLang="en-US" sz="2400" dirty="0">
              <a:solidFill>
                <a:srgbClr val="9966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9966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避免</a:t>
            </a:r>
            <a:r>
              <a:rPr lang="zh-CN" altLang="en-US" sz="2400" dirty="0">
                <a:solidFill>
                  <a:srgbClr val="B3773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血管收缩剂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漏到皮下</a:t>
            </a:r>
            <a:r>
              <a:rPr lang="zh-CN" altLang="en-US" sz="2400" dirty="0">
                <a:solidFill>
                  <a:srgbClr val="9966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造成组织坏死。如果注射部位红、肿、痛，应立即更换滴注部位，患处给予普鲁卡因等局部封闭解除血管痉挛</a:t>
            </a:r>
            <a:endParaRPr lang="zh-CN" altLang="en-US" sz="2400" dirty="0">
              <a:solidFill>
                <a:srgbClr val="9966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圆角矩形 38"/>
          <p:cNvSpPr/>
          <p:nvPr/>
        </p:nvSpPr>
        <p:spPr>
          <a:xfrm>
            <a:off x="847725" y="1928813"/>
            <a:ext cx="7572375" cy="1571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1" name="圆角矩形 27"/>
          <p:cNvSpPr/>
          <p:nvPr/>
        </p:nvSpPr>
        <p:spPr>
          <a:xfrm>
            <a:off x="847725" y="3786188"/>
            <a:ext cx="7572375" cy="2357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2" name="Freeform 36"/>
          <p:cNvSpPr/>
          <p:nvPr/>
        </p:nvSpPr>
        <p:spPr>
          <a:xfrm>
            <a:off x="822325" y="1900238"/>
            <a:ext cx="7607300" cy="1814512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7463010" y="640416"/>
              </a:cxn>
              <a:cxn ang="0">
                <a:pos x="2697425" y="644863"/>
              </a:cxn>
              <a:cxn ang="0">
                <a:pos x="2497022" y="573706"/>
              </a:cxn>
              <a:cxn ang="0">
                <a:pos x="2136297" y="175670"/>
              </a:cxn>
              <a:cxn ang="0">
                <a:pos x="1849720" y="8895"/>
              </a:cxn>
              <a:cxn ang="0">
                <a:pos x="206415" y="8895"/>
              </a:cxn>
              <a:cxn ang="0">
                <a:pos x="4008" y="195683"/>
              </a:cxn>
              <a:cxn ang="0">
                <a:pos x="4008" y="1621053"/>
              </a:cxn>
              <a:cxn ang="0">
                <a:pos x="206415" y="1787828"/>
              </a:cxn>
              <a:cxn ang="0">
                <a:pos x="7390865" y="1787828"/>
              </a:cxn>
              <a:cxn ang="0">
                <a:pos x="7595276" y="1592145"/>
              </a:cxn>
              <a:cxn ang="0">
                <a:pos x="7595276" y="791625"/>
              </a:cxn>
              <a:cxn ang="0">
                <a:pos x="7463010" y="640416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8133" name="Rectangle 41"/>
          <p:cNvSpPr/>
          <p:nvPr/>
        </p:nvSpPr>
        <p:spPr>
          <a:xfrm>
            <a:off x="776288" y="2043113"/>
            <a:ext cx="221932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4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9" name="Rectangle 41"/>
          <p:cNvSpPr>
            <a:spLocks noChangeArrowheads="1"/>
          </p:cNvSpPr>
          <p:nvPr/>
        </p:nvSpPr>
        <p:spPr bwMode="auto">
          <a:xfrm>
            <a:off x="3643313" y="2028825"/>
            <a:ext cx="2643188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⑶配合处理原发病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8136" name="圆角矩形 40"/>
          <p:cNvSpPr/>
          <p:nvPr/>
        </p:nvSpPr>
        <p:spPr>
          <a:xfrm>
            <a:off x="1000125" y="2714625"/>
            <a:ext cx="7286625" cy="3286125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针对休克病史，积极配合医生采取相应措施处理原发疾病：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①对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失血性休克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手术止血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者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做好急症手术前的准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备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感染性休克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者需遵医嘱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使用抗生素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并配合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处理原发病灶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圆角矩形 38"/>
          <p:cNvSpPr/>
          <p:nvPr/>
        </p:nvSpPr>
        <p:spPr>
          <a:xfrm>
            <a:off x="847725" y="1928813"/>
            <a:ext cx="7572375" cy="1571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圆角矩形 27"/>
          <p:cNvSpPr/>
          <p:nvPr/>
        </p:nvSpPr>
        <p:spPr>
          <a:xfrm>
            <a:off x="847725" y="3786188"/>
            <a:ext cx="7572375" cy="2357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Freeform 36"/>
          <p:cNvSpPr/>
          <p:nvPr/>
        </p:nvSpPr>
        <p:spPr>
          <a:xfrm>
            <a:off x="822325" y="1900238"/>
            <a:ext cx="7607300" cy="1814512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7463010" y="640416"/>
              </a:cxn>
              <a:cxn ang="0">
                <a:pos x="2697425" y="644863"/>
              </a:cxn>
              <a:cxn ang="0">
                <a:pos x="2497022" y="573706"/>
              </a:cxn>
              <a:cxn ang="0">
                <a:pos x="2136297" y="175670"/>
              </a:cxn>
              <a:cxn ang="0">
                <a:pos x="1849720" y="8895"/>
              </a:cxn>
              <a:cxn ang="0">
                <a:pos x="206415" y="8895"/>
              </a:cxn>
              <a:cxn ang="0">
                <a:pos x="4008" y="195683"/>
              </a:cxn>
              <a:cxn ang="0">
                <a:pos x="4008" y="1621053"/>
              </a:cxn>
              <a:cxn ang="0">
                <a:pos x="206415" y="1787828"/>
              </a:cxn>
              <a:cxn ang="0">
                <a:pos x="7390865" y="1787828"/>
              </a:cxn>
              <a:cxn ang="0">
                <a:pos x="7595276" y="1592145"/>
              </a:cxn>
              <a:cxn ang="0">
                <a:pos x="7595276" y="791625"/>
              </a:cxn>
              <a:cxn ang="0">
                <a:pos x="7463010" y="640416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49157" name="Rectangle 41"/>
          <p:cNvSpPr/>
          <p:nvPr/>
        </p:nvSpPr>
        <p:spPr>
          <a:xfrm>
            <a:off x="776288" y="2043113"/>
            <a:ext cx="221932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Rectangle 41"/>
          <p:cNvSpPr>
            <a:spLocks noChangeArrowheads="1"/>
          </p:cNvSpPr>
          <p:nvPr/>
        </p:nvSpPr>
        <p:spPr bwMode="auto">
          <a:xfrm>
            <a:off x="3643313" y="2028825"/>
            <a:ext cx="3071813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⑷纠正代谢紊乱的护理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9160" name="圆角矩形 40"/>
          <p:cNvSpPr/>
          <p:nvPr/>
        </p:nvSpPr>
        <p:spPr>
          <a:xfrm>
            <a:off x="1000125" y="2714625"/>
            <a:ext cx="7286625" cy="3286125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①休克病人大多伴随酸中毒，一般病人经补液扩容即可缓解，严重者应遵医嘱补充碱性溶液，常用药物为</a:t>
            </a:r>
            <a:r>
              <a:rPr lang="en-US" altLang="zh-CN" sz="2400" b="1" dirty="0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5%</a:t>
            </a:r>
            <a:r>
              <a:rPr lang="zh-CN" altLang="en-US" sz="2400" b="1" dirty="0">
                <a:solidFill>
                  <a:srgbClr val="FF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碳酸氢钠</a:t>
            </a:r>
            <a:endParaRPr lang="zh-CN" altLang="en-US" sz="2400" b="1" dirty="0">
              <a:solidFill>
                <a:srgbClr val="FF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②为了调节休克病人应激反应，常需要遵医嘱使用糖皮质激素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③改善细胞代谢，常用三磷酸腺苷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氯化镁（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ATP-MgCl2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）、辅酶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、细胞色素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等药物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圆角矩形 38"/>
          <p:cNvSpPr/>
          <p:nvPr/>
        </p:nvSpPr>
        <p:spPr>
          <a:xfrm>
            <a:off x="847725" y="1928813"/>
            <a:ext cx="7572375" cy="1571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79" name="圆角矩形 27"/>
          <p:cNvSpPr/>
          <p:nvPr/>
        </p:nvSpPr>
        <p:spPr>
          <a:xfrm>
            <a:off x="847725" y="3786188"/>
            <a:ext cx="7572375" cy="2357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Freeform 36"/>
          <p:cNvSpPr/>
          <p:nvPr/>
        </p:nvSpPr>
        <p:spPr>
          <a:xfrm>
            <a:off x="822325" y="1900238"/>
            <a:ext cx="7607300" cy="1814512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7463010" y="640416"/>
              </a:cxn>
              <a:cxn ang="0">
                <a:pos x="2697425" y="644863"/>
              </a:cxn>
              <a:cxn ang="0">
                <a:pos x="2497022" y="573706"/>
              </a:cxn>
              <a:cxn ang="0">
                <a:pos x="2136297" y="175670"/>
              </a:cxn>
              <a:cxn ang="0">
                <a:pos x="1849720" y="8895"/>
              </a:cxn>
              <a:cxn ang="0">
                <a:pos x="206415" y="8895"/>
              </a:cxn>
              <a:cxn ang="0">
                <a:pos x="4008" y="195683"/>
              </a:cxn>
              <a:cxn ang="0">
                <a:pos x="4008" y="1621053"/>
              </a:cxn>
              <a:cxn ang="0">
                <a:pos x="206415" y="1787828"/>
              </a:cxn>
              <a:cxn ang="0">
                <a:pos x="7390865" y="1787828"/>
              </a:cxn>
              <a:cxn ang="0">
                <a:pos x="7595276" y="1592145"/>
              </a:cxn>
              <a:cxn ang="0">
                <a:pos x="7595276" y="791625"/>
              </a:cxn>
              <a:cxn ang="0">
                <a:pos x="7463010" y="640416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0181" name="Rectangle 41"/>
          <p:cNvSpPr/>
          <p:nvPr/>
        </p:nvSpPr>
        <p:spPr>
          <a:xfrm>
            <a:off x="776288" y="2043113"/>
            <a:ext cx="221932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Rectangle 41"/>
          <p:cNvSpPr>
            <a:spLocks noChangeArrowheads="1"/>
          </p:cNvSpPr>
          <p:nvPr/>
        </p:nvSpPr>
        <p:spPr bwMode="auto">
          <a:xfrm>
            <a:off x="3643313" y="2028825"/>
            <a:ext cx="3500438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⑸维护重要器官功能的护理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84" name="圆角矩形 40"/>
          <p:cNvSpPr/>
          <p:nvPr/>
        </p:nvSpPr>
        <p:spPr>
          <a:xfrm>
            <a:off x="1000125" y="2714625"/>
            <a:ext cx="7286625" cy="3286125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①保持呼吸道通畅，给予氧气吸入，维护肺功能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②对休克合并心力衰竭、急性肺水肿者，可遵医嘱用药以增强心肌收缩功能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③对于休克伴尿少的病人，遵医嘱在积极扩容的基础上使用利尿剂，预防急性肾衰竭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圆角矩形 38"/>
          <p:cNvSpPr/>
          <p:nvPr/>
        </p:nvSpPr>
        <p:spPr>
          <a:xfrm>
            <a:off x="847725" y="1928813"/>
            <a:ext cx="7572375" cy="157162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9525" cap="flat" cmpd="sng">
            <a:solidFill>
              <a:srgbClr val="FF89E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3" name="圆角矩形 27"/>
          <p:cNvSpPr/>
          <p:nvPr/>
        </p:nvSpPr>
        <p:spPr>
          <a:xfrm>
            <a:off x="847725" y="3786188"/>
            <a:ext cx="7572375" cy="235743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A4885">
                  <a:alpha val="100000"/>
                </a:srgbClr>
              </a:gs>
              <a:gs pos="50000">
                <a:srgbClr val="DE6BC0">
                  <a:alpha val="100000"/>
                </a:srgbClr>
              </a:gs>
              <a:gs pos="100000">
                <a:srgbClr val="FF80E4">
                  <a:alpha val="100000"/>
                </a:srgbClr>
              </a:gs>
            </a:gsLst>
            <a:lin ang="5400000" scaled="1"/>
            <a:tileRect/>
          </a:gradFill>
          <a:ln w="38100" cap="flat" cmpd="sng">
            <a:solidFill>
              <a:srgbClr val="D9D9D9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Freeform 36"/>
          <p:cNvSpPr/>
          <p:nvPr/>
        </p:nvSpPr>
        <p:spPr>
          <a:xfrm>
            <a:off x="822325" y="1900238"/>
            <a:ext cx="7607300" cy="1814512"/>
          </a:xfrm>
          <a:custGeom>
            <a:avLst/>
            <a:gdLst>
              <a:gd name="txL" fmla="*/ 0 w 3796"/>
              <a:gd name="txT" fmla="*/ 0 h 816"/>
              <a:gd name="txR" fmla="*/ 3796 w 3796"/>
              <a:gd name="txB" fmla="*/ 816 h 816"/>
            </a:gdLst>
            <a:ahLst/>
            <a:cxnLst>
              <a:cxn ang="0">
                <a:pos x="7463010" y="640416"/>
              </a:cxn>
              <a:cxn ang="0">
                <a:pos x="2697425" y="644863"/>
              </a:cxn>
              <a:cxn ang="0">
                <a:pos x="2497022" y="573706"/>
              </a:cxn>
              <a:cxn ang="0">
                <a:pos x="2136297" y="175670"/>
              </a:cxn>
              <a:cxn ang="0">
                <a:pos x="1849720" y="8895"/>
              </a:cxn>
              <a:cxn ang="0">
                <a:pos x="206415" y="8895"/>
              </a:cxn>
              <a:cxn ang="0">
                <a:pos x="4008" y="195683"/>
              </a:cxn>
              <a:cxn ang="0">
                <a:pos x="4008" y="1621053"/>
              </a:cxn>
              <a:cxn ang="0">
                <a:pos x="206415" y="1787828"/>
              </a:cxn>
              <a:cxn ang="0">
                <a:pos x="7390865" y="1787828"/>
              </a:cxn>
              <a:cxn ang="0">
                <a:pos x="7595276" y="1592145"/>
              </a:cxn>
              <a:cxn ang="0">
                <a:pos x="7595276" y="791625"/>
              </a:cxn>
              <a:cxn ang="0">
                <a:pos x="7463010" y="640416"/>
              </a:cxn>
            </a:cxnLst>
            <a:rect l="txL" t="txT" r="txR" b="txB"/>
            <a:pathLst>
              <a:path w="3796" h="816">
                <a:moveTo>
                  <a:pt x="3724" y="288"/>
                </a:moveTo>
                <a:cubicBezTo>
                  <a:pt x="2535" y="289"/>
                  <a:pt x="1346" y="290"/>
                  <a:pt x="1346" y="290"/>
                </a:cubicBezTo>
                <a:cubicBezTo>
                  <a:pt x="1304" y="288"/>
                  <a:pt x="1272" y="282"/>
                  <a:pt x="1246" y="258"/>
                </a:cubicBezTo>
                <a:cubicBezTo>
                  <a:pt x="1156" y="168"/>
                  <a:pt x="1066" y="79"/>
                  <a:pt x="1066" y="79"/>
                </a:cubicBezTo>
                <a:cubicBezTo>
                  <a:pt x="1034" y="48"/>
                  <a:pt x="1002" y="0"/>
                  <a:pt x="923" y="4"/>
                </a:cubicBezTo>
                <a:cubicBezTo>
                  <a:pt x="513" y="4"/>
                  <a:pt x="103" y="4"/>
                  <a:pt x="103" y="4"/>
                </a:cubicBezTo>
                <a:cubicBezTo>
                  <a:pt x="38" y="4"/>
                  <a:pt x="0" y="42"/>
                  <a:pt x="2" y="88"/>
                </a:cubicBezTo>
                <a:cubicBezTo>
                  <a:pt x="2" y="410"/>
                  <a:pt x="2" y="729"/>
                  <a:pt x="2" y="729"/>
                </a:cubicBezTo>
                <a:cubicBezTo>
                  <a:pt x="0" y="812"/>
                  <a:pt x="103" y="804"/>
                  <a:pt x="103" y="804"/>
                </a:cubicBezTo>
                <a:cubicBezTo>
                  <a:pt x="1895" y="804"/>
                  <a:pt x="3688" y="804"/>
                  <a:pt x="3688" y="804"/>
                </a:cubicBezTo>
                <a:cubicBezTo>
                  <a:pt x="3688" y="804"/>
                  <a:pt x="3794" y="816"/>
                  <a:pt x="3790" y="716"/>
                </a:cubicBezTo>
                <a:cubicBezTo>
                  <a:pt x="3790" y="536"/>
                  <a:pt x="3790" y="356"/>
                  <a:pt x="3790" y="356"/>
                </a:cubicBezTo>
                <a:cubicBezTo>
                  <a:pt x="3790" y="356"/>
                  <a:pt x="3796" y="288"/>
                  <a:pt x="3724" y="288"/>
                </a:cubicBezTo>
                <a:close/>
              </a:path>
            </a:pathLst>
          </a:custGeom>
          <a:gradFill rotWithShape="1">
            <a:gsLst>
              <a:gs pos="0">
                <a:schemeClr val="accent1">
                  <a:alpha val="100000"/>
                </a:schemeClr>
              </a:gs>
              <a:gs pos="100000">
                <a:srgbClr val="35415F">
                  <a:alpha val="100000"/>
                </a:srgbClr>
              </a:gs>
            </a:gsLst>
            <a:lin ang="5400000" scaled="1"/>
            <a:tileRect/>
          </a:gradFill>
          <a:ln w="28575" cap="flat" cmpd="sng">
            <a:solidFill>
              <a:srgbClr val="D9D9D9"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35921" dir="2699999" algn="ctr" rotWithShape="0">
              <a:schemeClr val="bg2">
                <a:alpha val="100000"/>
              </a:scheme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1205" name="Rectangle 41"/>
          <p:cNvSpPr/>
          <p:nvPr/>
        </p:nvSpPr>
        <p:spPr>
          <a:xfrm>
            <a:off x="776288" y="2043113"/>
            <a:ext cx="2219325" cy="461962"/>
          </a:xfrm>
          <a:prstGeom prst="rect">
            <a:avLst/>
          </a:prstGeom>
          <a:noFill/>
          <a:ln w="9525">
            <a:noFill/>
          </a:ln>
          <a:effectLst>
            <a:outerShdw dist="35921" dir="2699999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p>
            <a:pPr algn="ctr" eaLnBrk="1" hangingPunct="1"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㈣</a:t>
            </a: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治疗配合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6" name="标题 3"/>
          <p:cNvSpPr txBox="1"/>
          <p:nvPr/>
        </p:nvSpPr>
        <p:spPr>
          <a:xfrm>
            <a:off x="285750" y="333375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41"/>
          <p:cNvSpPr>
            <a:spLocks noChangeArrowheads="1"/>
          </p:cNvSpPr>
          <p:nvPr/>
        </p:nvSpPr>
        <p:spPr bwMode="auto">
          <a:xfrm>
            <a:off x="3643313" y="2028825"/>
            <a:ext cx="2143125" cy="40005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rgbClr val="333333">
                <a:alpha val="50000"/>
              </a:srgb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⑹防止感染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1208" name="圆角矩形 40"/>
          <p:cNvSpPr/>
          <p:nvPr/>
        </p:nvSpPr>
        <p:spPr>
          <a:xfrm>
            <a:off x="1000125" y="2714625"/>
            <a:ext cx="7286625" cy="3286125"/>
          </a:xfrm>
          <a:prstGeom prst="roundRect">
            <a:avLst>
              <a:gd name="adj" fmla="val 11282"/>
            </a:avLst>
          </a:prstGeom>
          <a:solidFill>
            <a:srgbClr val="C2FFE0"/>
          </a:solidFill>
          <a:ln w="9525" cap="flat" cmpd="sng">
            <a:solidFill>
              <a:srgbClr val="3E5FB2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①在进行各项护理时要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严格遵循无菌操作技术原则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，避免医源性感染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②对有外伤或创面的病人，应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及时换药，保持伤口或创面清洁干燥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加强口腔和呼吸道护理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，预防肺部感染；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加强留置导尿管的护理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，预防泌尿道感染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④遵医嘱合理、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正确使用有效抗生素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AutoShape 8"/>
          <p:cNvSpPr/>
          <p:nvPr/>
        </p:nvSpPr>
        <p:spPr>
          <a:xfrm>
            <a:off x="1000125" y="2054225"/>
            <a:ext cx="7286625" cy="3660775"/>
          </a:xfrm>
          <a:prstGeom prst="roundRect">
            <a:avLst>
              <a:gd name="adj" fmla="val 12699"/>
            </a:avLst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华文中宋" pitchFamily="2" charset="-122"/>
            </a:endParaRPr>
          </a:p>
        </p:txBody>
      </p:sp>
      <p:sp>
        <p:nvSpPr>
          <p:cNvPr id="52227" name="AutoShape 9"/>
          <p:cNvSpPr/>
          <p:nvPr/>
        </p:nvSpPr>
        <p:spPr>
          <a:xfrm>
            <a:off x="1138238" y="2786063"/>
            <a:ext cx="7005637" cy="27860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</a:ln>
          <a:effectLst>
            <a:prstShdw prst="shdw17" dist="17961" dir="13499999">
              <a:srgbClr val="999999"/>
            </a:prstShdw>
          </a:effectLst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⑴关心、安慰病人和家属，多进行沟通、心理疏导，稳定其情绪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⑵适当向病人或家属说明病情变化以及有关治疗方法、护理措施的意义，帮助正确认识疾病及其变化过程，使他们能够很好地配合治疗与护理</a:t>
            </a:r>
            <a:endParaRPr lang="zh-CN" altLang="en-US" sz="2400" dirty="0">
              <a:latin typeface="Arial" panose="020B0604020202020204" pitchFamily="34" charset="0"/>
              <a:ea typeface="华文中宋" pitchFamily="2" charset="-122"/>
            </a:endParaRPr>
          </a:p>
        </p:txBody>
      </p:sp>
      <p:sp>
        <p:nvSpPr>
          <p:cNvPr id="37892" name="Text Box 18"/>
          <p:cNvSpPr txBox="1">
            <a:spLocks noChangeArrowheads="1"/>
          </p:cNvSpPr>
          <p:nvPr/>
        </p:nvSpPr>
        <p:spPr bwMode="auto">
          <a:xfrm>
            <a:off x="2106613" y="2212975"/>
            <a:ext cx="532288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中宋" pitchFamily="2" charset="-122"/>
                <a:cs typeface="+mn-cs"/>
              </a:rPr>
              <a:t>㈤ 心理护理</a:t>
            </a:r>
            <a:endParaRPr kumimoji="0" lang="zh-CN" altLang="en-US" sz="2400" b="1" kern="1200" cap="none" spc="0" normalizeH="0" baseline="0" noProof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52229" name="标题 3"/>
          <p:cNvSpPr txBox="1"/>
          <p:nvPr/>
        </p:nvSpPr>
        <p:spPr>
          <a:xfrm>
            <a:off x="285750" y="285750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AutoShape 8"/>
          <p:cNvSpPr/>
          <p:nvPr/>
        </p:nvSpPr>
        <p:spPr>
          <a:xfrm>
            <a:off x="1000125" y="2054225"/>
            <a:ext cx="7286625" cy="3946525"/>
          </a:xfrm>
          <a:prstGeom prst="roundRect">
            <a:avLst>
              <a:gd name="adj" fmla="val 12699"/>
            </a:avLst>
          </a:prstGeom>
          <a:solidFill>
            <a:srgbClr val="008B45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dirty="0">
              <a:latin typeface="Arial" panose="020B0604020202020204" pitchFamily="34" charset="0"/>
              <a:ea typeface="华文中宋" pitchFamily="2" charset="-122"/>
            </a:endParaRPr>
          </a:p>
        </p:txBody>
      </p:sp>
      <p:sp>
        <p:nvSpPr>
          <p:cNvPr id="53251" name="AutoShape 9"/>
          <p:cNvSpPr/>
          <p:nvPr/>
        </p:nvSpPr>
        <p:spPr>
          <a:xfrm>
            <a:off x="1138238" y="2786063"/>
            <a:ext cx="7005637" cy="30718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</a:ln>
          <a:effectLst>
            <a:prstShdw prst="shdw17" dist="17961" dir="13499999">
              <a:srgbClr val="999999"/>
            </a:prstShdw>
          </a:effectLst>
        </p:spPr>
        <p:txBody>
          <a:bodyPr anchor="ctr" anchorCtr="0"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⑴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加强自我保护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避免损伤和其他意外伤害。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⑵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意外损伤后见有活动性出血者应争取就地包扎止血。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⑶搬动病人时保持体位平稳，不使身体变动过大和移动过快，防止机体继续损伤。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⑷发生感染或高热时应及时就医</a:t>
            </a:r>
            <a:endParaRPr lang="zh-CN" altLang="en-US" sz="2400" dirty="0">
              <a:latin typeface="Arial" panose="020B0604020202020204" pitchFamily="34" charset="0"/>
              <a:ea typeface="华文中宋" pitchFamily="2" charset="-122"/>
            </a:endParaRPr>
          </a:p>
        </p:txBody>
      </p:sp>
      <p:sp>
        <p:nvSpPr>
          <p:cNvPr id="38916" name="Text Box 18"/>
          <p:cNvSpPr txBox="1">
            <a:spLocks noChangeArrowheads="1"/>
          </p:cNvSpPr>
          <p:nvPr/>
        </p:nvSpPr>
        <p:spPr bwMode="auto">
          <a:xfrm>
            <a:off x="2106613" y="2212975"/>
            <a:ext cx="5322888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中宋" pitchFamily="2" charset="-122"/>
                <a:cs typeface="+mn-cs"/>
              </a:rPr>
              <a:t>㈥ 健康指导</a:t>
            </a:r>
            <a:endParaRPr kumimoji="0" lang="zh-CN" altLang="en-US" sz="2400" b="1" kern="1200" cap="none" spc="0" normalizeH="0" baseline="0" noProof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53253" name="标题 3"/>
          <p:cNvSpPr txBox="1"/>
          <p:nvPr/>
        </p:nvSpPr>
        <p:spPr>
          <a:xfrm>
            <a:off x="285750" y="285750"/>
            <a:ext cx="8607425" cy="720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ß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Þ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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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 2"/>
              <a:buChar char="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【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护理措施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】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409575"/>
            <a:ext cx="7273925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巩固练习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4275" name="Rectangle 3"/>
          <p:cNvSpPr>
            <a:spLocks noGrp="1"/>
          </p:cNvSpPr>
          <p:nvPr>
            <p:ph type="body" idx="4294967295"/>
          </p:nvPr>
        </p:nvSpPr>
        <p:spPr>
          <a:xfrm>
            <a:off x="0" y="1643063"/>
            <a:ext cx="8734425" cy="4445000"/>
          </a:xfrm>
          <a:ln/>
        </p:spPr>
        <p:txBody>
          <a:bodyPr vert="horz" wrap="square" anchor="t" anchorCtr="0"/>
          <a:p>
            <a:pPr marL="0" indent="0" eaLnBrk="0">
              <a:buNone/>
            </a:pPr>
            <a:r>
              <a:rPr lang="en-US" altLang="zh-CN" dirty="0">
                <a:ea typeface="黑体" panose="02010609060101010101" pitchFamily="49" charset="-122"/>
              </a:rPr>
              <a:t>1.</a:t>
            </a:r>
            <a:r>
              <a:rPr lang="zh-CN" altLang="zh-CN" dirty="0">
                <a:ea typeface="黑体" panose="02010609060101010101" pitchFamily="49" charset="-122"/>
              </a:rPr>
              <a:t>休克患者应采取的正确体位是？</a:t>
            </a:r>
            <a:br>
              <a:rPr lang="en-US" altLang="zh-CN" b="1" dirty="0">
                <a:ea typeface="黑体" panose="02010609060101010101" pitchFamily="49" charset="-122"/>
              </a:rPr>
            </a:br>
            <a:r>
              <a:rPr lang="en-US" altLang="zh-CN" dirty="0">
                <a:ea typeface="黑体" panose="02010609060101010101" pitchFamily="49" charset="-122"/>
              </a:rPr>
              <a:t>A.平卧位B. 半坐卧位C.</a:t>
            </a:r>
            <a:r>
              <a:rPr lang="zh-CN" altLang="zh-CN" dirty="0">
                <a:ea typeface="黑体" panose="02010609060101010101" pitchFamily="49" charset="-122"/>
              </a:rPr>
              <a:t>头和躯干抬高</a:t>
            </a:r>
            <a:r>
              <a:rPr lang="en-US" altLang="zh-CN" dirty="0">
                <a:ea typeface="黑体" panose="02010609060101010101" pitchFamily="49" charset="-122"/>
              </a:rPr>
              <a:t>20</a:t>
            </a:r>
            <a:r>
              <a:rPr lang="zh-CN" altLang="zh-CN" dirty="0">
                <a:ea typeface="黑体" panose="02010609060101010101" pitchFamily="49" charset="-122"/>
              </a:rPr>
              <a:t>°～</a:t>
            </a:r>
            <a:r>
              <a:rPr lang="en-US" altLang="zh-CN" dirty="0">
                <a:ea typeface="黑体" panose="02010609060101010101" pitchFamily="49" charset="-122"/>
              </a:rPr>
              <a:t>30</a:t>
            </a:r>
            <a:r>
              <a:rPr lang="zh-CN" altLang="zh-CN" dirty="0">
                <a:ea typeface="黑体" panose="02010609060101010101" pitchFamily="49" charset="-122"/>
              </a:rPr>
              <a:t>°，下肢抬高</a:t>
            </a:r>
            <a:r>
              <a:rPr lang="en-US" altLang="zh-CN" dirty="0">
                <a:ea typeface="黑体" panose="02010609060101010101" pitchFamily="49" charset="-122"/>
              </a:rPr>
              <a:t>15</a:t>
            </a:r>
            <a:r>
              <a:rPr lang="zh-CN" altLang="zh-CN" dirty="0">
                <a:ea typeface="黑体" panose="02010609060101010101" pitchFamily="49" charset="-122"/>
              </a:rPr>
              <a:t>°～</a:t>
            </a:r>
            <a:r>
              <a:rPr lang="en-US" altLang="zh-CN" dirty="0">
                <a:ea typeface="黑体" panose="02010609060101010101" pitchFamily="49" charset="-122"/>
              </a:rPr>
              <a:t>20</a:t>
            </a:r>
            <a:r>
              <a:rPr lang="zh-CN" altLang="zh-CN" dirty="0">
                <a:ea typeface="黑体" panose="02010609060101010101" pitchFamily="49" charset="-122"/>
              </a:rPr>
              <a:t>°</a:t>
            </a:r>
            <a:r>
              <a:rPr lang="en-US" altLang="zh-CN" dirty="0">
                <a:ea typeface="黑体" panose="02010609060101010101" pitchFamily="49" charset="-122"/>
              </a:rPr>
              <a:t>D.</a:t>
            </a:r>
            <a:r>
              <a:rPr lang="zh-CN" altLang="zh-CN" dirty="0">
                <a:ea typeface="黑体" panose="02010609060101010101" pitchFamily="49" charset="-122"/>
              </a:rPr>
              <a:t>头低足高位</a:t>
            </a:r>
            <a:endParaRPr lang="zh-CN" altLang="zh-CN" dirty="0">
              <a:ea typeface="黑体" panose="02010609060101010101" pitchFamily="49" charset="-122"/>
            </a:endParaRPr>
          </a:p>
          <a:p>
            <a:pPr marL="0" indent="0" eaLnBrk="0">
              <a:buNone/>
            </a:pPr>
            <a:r>
              <a:rPr lang="en-US" altLang="zh-CN" dirty="0">
                <a:ea typeface="黑体" panose="02010609060101010101" pitchFamily="49" charset="-122"/>
              </a:rPr>
              <a:t>2.</a:t>
            </a:r>
            <a:r>
              <a:rPr lang="zh-CN" altLang="zh-CN" dirty="0">
                <a:ea typeface="黑体" panose="02010609060101010101" pitchFamily="49" charset="-122"/>
              </a:rPr>
              <a:t>休克患者的补液原则是？</a:t>
            </a:r>
            <a:br>
              <a:rPr lang="en-US" altLang="zh-CN" b="1" dirty="0">
                <a:ea typeface="黑体" panose="02010609060101010101" pitchFamily="49" charset="-122"/>
              </a:rPr>
            </a:br>
            <a:r>
              <a:rPr lang="en-US" altLang="zh-CN" dirty="0">
                <a:ea typeface="黑体" panose="02010609060101010101" pitchFamily="49" charset="-122"/>
              </a:rPr>
              <a:t>A.先盐后糖B.先晶后胶C.</a:t>
            </a:r>
            <a:r>
              <a:rPr lang="zh-CN" altLang="zh-CN" dirty="0">
                <a:ea typeface="黑体" panose="02010609060101010101" pitchFamily="49" charset="-122"/>
              </a:rPr>
              <a:t>先快后慢</a:t>
            </a:r>
            <a:r>
              <a:rPr lang="en-US" altLang="zh-CN" dirty="0">
                <a:ea typeface="黑体" panose="02010609060101010101" pitchFamily="49" charset="-122"/>
              </a:rPr>
              <a:t>D.</a:t>
            </a:r>
            <a:r>
              <a:rPr lang="zh-CN" altLang="zh-CN" dirty="0">
                <a:ea typeface="黑体" panose="02010609060101010101" pitchFamily="49" charset="-122"/>
              </a:rPr>
              <a:t>先胶后晶</a:t>
            </a:r>
            <a:endParaRPr lang="zh-CN" altLang="zh-CN" dirty="0">
              <a:ea typeface="黑体" panose="02010609060101010101" pitchFamily="49" charset="-122"/>
            </a:endParaRPr>
          </a:p>
          <a:p>
            <a:pPr marL="0" indent="0" eaLnBrk="0">
              <a:buNone/>
            </a:pPr>
            <a:r>
              <a:rPr lang="en-US" altLang="zh-CN" dirty="0">
                <a:ea typeface="黑体" panose="02010609060101010101" pitchFamily="49" charset="-122"/>
              </a:rPr>
              <a:t>3.</a:t>
            </a:r>
            <a:r>
              <a:rPr lang="zh-CN" altLang="zh-CN" dirty="0">
                <a:ea typeface="黑体" panose="02010609060101010101" pitchFamily="49" charset="-122"/>
              </a:rPr>
              <a:t>反映休克患者组织灌注最有效的指标是？</a:t>
            </a:r>
            <a:br>
              <a:rPr lang="en-US" altLang="zh-CN" dirty="0">
                <a:ea typeface="黑体" panose="02010609060101010101" pitchFamily="49" charset="-122"/>
              </a:rPr>
            </a:br>
            <a:r>
              <a:rPr lang="en-US" altLang="zh-CN" dirty="0">
                <a:ea typeface="黑体" panose="02010609060101010101" pitchFamily="49" charset="-122"/>
              </a:rPr>
              <a:t>A. 血压B. 脉搏C. </a:t>
            </a:r>
            <a:r>
              <a:rPr lang="zh-CN" altLang="zh-CN" dirty="0">
                <a:ea typeface="黑体" panose="02010609060101010101" pitchFamily="49" charset="-122"/>
              </a:rPr>
              <a:t>尿量</a:t>
            </a:r>
            <a:r>
              <a:rPr lang="en-US" altLang="zh-CN" dirty="0">
                <a:ea typeface="黑体" panose="02010609060101010101" pitchFamily="49" charset="-122"/>
              </a:rPr>
              <a:t>D. </a:t>
            </a:r>
            <a:r>
              <a:rPr lang="zh-CN" altLang="zh-CN" dirty="0">
                <a:ea typeface="黑体" panose="02010609060101010101" pitchFamily="49" charset="-122"/>
              </a:rPr>
              <a:t>神志</a:t>
            </a:r>
            <a:endParaRPr lang="zh-CN" altLang="zh-CN" dirty="0">
              <a:ea typeface="黑体" panose="02010609060101010101" pitchFamily="49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409575"/>
            <a:ext cx="7273925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课后总结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5299" name="Rectangle 3"/>
          <p:cNvSpPr>
            <a:spLocks noGrp="1"/>
          </p:cNvSpPr>
          <p:nvPr>
            <p:ph type="body" idx="4294967295"/>
          </p:nvPr>
        </p:nvSpPr>
        <p:spPr>
          <a:xfrm>
            <a:off x="0" y="1643063"/>
            <a:ext cx="8734425" cy="4445000"/>
          </a:xfrm>
          <a:ln/>
        </p:spPr>
        <p:txBody>
          <a:bodyPr vert="horz" wrap="square" anchor="t" anchorCtr="0"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有效循环血量锐减和组织灌注不足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，以及产生炎症介质是各类休克的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共同病理生理基础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按照休克的发病过程，将休克分为休克代偿期、休克抑制期，又称休克早期或休克期；主要表现在神志、生命体征、皮肤黏膜、尿量等方面的改变；晚期病人可出现皮肤瘀斑、呕血、便血等广泛出血及多器官功能障碍综合征（MODS）等表现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扩容是治疗休克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最基本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也是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最有效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的措施。护理主要是做好扩容护理。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409575"/>
            <a:ext cx="7273925" cy="720725"/>
          </a:xfrm>
        </p:spPr>
        <p:txBody>
          <a:bodyPr vert="horz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课后作业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type="body" idx="4294967295"/>
          </p:nvPr>
        </p:nvSpPr>
        <p:spPr>
          <a:xfrm>
            <a:off x="0" y="1643063"/>
            <a:ext cx="8734425" cy="4445000"/>
          </a:xfrm>
          <a:ln/>
        </p:spPr>
        <p:txBody>
          <a:bodyPr vert="horz" wrap="square" anchor="t" anchorCtr="0"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整理课堂笔记</a:t>
            </a:r>
            <a:endParaRPr lang="en-US" altLang="zh-CN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4000" dirty="0">
                <a:latin typeface="宋体" panose="02010600030101010101" pitchFamily="2" charset="-122"/>
                <a:ea typeface="宋体" panose="02010600030101010101" pitchFamily="2" charset="-122"/>
              </a:rPr>
              <a:t>完成课后练习题</a:t>
            </a: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73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349500"/>
            <a:ext cx="8707437" cy="2430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FFFFE7"/>
      </a:dk2>
      <a:lt2>
        <a:srgbClr val="B2B2B2"/>
      </a:lt2>
      <a:accent1>
        <a:srgbClr val="728CCE"/>
      </a:accent1>
      <a:accent2>
        <a:srgbClr val="00CC66"/>
      </a:accent2>
      <a:accent3>
        <a:srgbClr val="FFFFFF"/>
      </a:accent3>
      <a:accent4>
        <a:srgbClr val="000000"/>
      </a:accent4>
      <a:accent5>
        <a:srgbClr val="BCC5E3"/>
      </a:accent5>
      <a:accent6>
        <a:srgbClr val="00B95C"/>
      </a:accent6>
      <a:hlink>
        <a:srgbClr val="B0AC52"/>
      </a:hlink>
      <a:folHlink>
        <a:srgbClr val="0099CC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FFFFE7"/>
        </a:dk2>
        <a:lt2>
          <a:srgbClr val="B2B2B2"/>
        </a:lt2>
        <a:accent1>
          <a:srgbClr val="728CCE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BCC5E3"/>
        </a:accent5>
        <a:accent6>
          <a:srgbClr val="00B95C"/>
        </a:accent6>
        <a:hlink>
          <a:srgbClr val="B0AC52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FFFFFF"/>
        </a:dk2>
        <a:lt2>
          <a:srgbClr val="A1ABA3"/>
        </a:lt2>
        <a:accent1>
          <a:srgbClr val="A4C961"/>
        </a:accent1>
        <a:accent2>
          <a:srgbClr val="7C57C7"/>
        </a:accent2>
        <a:accent3>
          <a:srgbClr val="FFFFFF"/>
        </a:accent3>
        <a:accent4>
          <a:srgbClr val="000000"/>
        </a:accent4>
        <a:accent5>
          <a:srgbClr val="CFE1B7"/>
        </a:accent5>
        <a:accent6>
          <a:srgbClr val="704EB4"/>
        </a:accent6>
        <a:hlink>
          <a:srgbClr val="4D97B5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66"/>
        </a:dk1>
        <a:lt1>
          <a:srgbClr val="FFFFFF"/>
        </a:lt1>
        <a:dk2>
          <a:srgbClr val="FFFFE7"/>
        </a:dk2>
        <a:lt2>
          <a:srgbClr val="B2B2B2"/>
        </a:lt2>
        <a:accent1>
          <a:srgbClr val="36A4D0"/>
        </a:accent1>
        <a:accent2>
          <a:srgbClr val="FF9966"/>
        </a:accent2>
        <a:accent3>
          <a:srgbClr val="FFFFFF"/>
        </a:accent3>
        <a:accent4>
          <a:srgbClr val="000056"/>
        </a:accent4>
        <a:accent5>
          <a:srgbClr val="AECFE4"/>
        </a:accent5>
        <a:accent6>
          <a:srgbClr val="E78A5C"/>
        </a:accent6>
        <a:hlink>
          <a:srgbClr val="3B5AB1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FFFFE7"/>
        </a:dk2>
        <a:lt2>
          <a:srgbClr val="B2B2B2"/>
        </a:lt2>
        <a:accent1>
          <a:srgbClr val="CCCC00"/>
        </a:accent1>
        <a:accent2>
          <a:srgbClr val="FF7C80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E77073"/>
        </a:accent6>
        <a:hlink>
          <a:srgbClr val="5A94A8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FFFFE7"/>
        </a:dk2>
        <a:lt2>
          <a:srgbClr val="B2B2B2"/>
        </a:lt2>
        <a:accent1>
          <a:srgbClr val="969696"/>
        </a:accent1>
        <a:accent2>
          <a:srgbClr val="FF7C80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E77073"/>
        </a:accent6>
        <a:hlink>
          <a:srgbClr val="5A94A8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FFFFE7"/>
      </a:dk2>
      <a:lt2>
        <a:srgbClr val="B2B2B2"/>
      </a:lt2>
      <a:accent1>
        <a:srgbClr val="728CCE"/>
      </a:accent1>
      <a:accent2>
        <a:srgbClr val="00CC66"/>
      </a:accent2>
      <a:accent3>
        <a:srgbClr val="FFFFFF"/>
      </a:accent3>
      <a:accent4>
        <a:srgbClr val="000000"/>
      </a:accent4>
      <a:accent5>
        <a:srgbClr val="BCC5E3"/>
      </a:accent5>
      <a:accent6>
        <a:srgbClr val="00B95C"/>
      </a:accent6>
      <a:hlink>
        <a:srgbClr val="B0AC52"/>
      </a:hlink>
      <a:folHlink>
        <a:srgbClr val="0099CC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FFFFE7"/>
        </a:dk2>
        <a:lt2>
          <a:srgbClr val="B2B2B2"/>
        </a:lt2>
        <a:accent1>
          <a:srgbClr val="728CCE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BCC5E3"/>
        </a:accent5>
        <a:accent6>
          <a:srgbClr val="00B95C"/>
        </a:accent6>
        <a:hlink>
          <a:srgbClr val="B0AC52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FFFFFF"/>
        </a:dk2>
        <a:lt2>
          <a:srgbClr val="A1ABA3"/>
        </a:lt2>
        <a:accent1>
          <a:srgbClr val="A4C961"/>
        </a:accent1>
        <a:accent2>
          <a:srgbClr val="7C57C7"/>
        </a:accent2>
        <a:accent3>
          <a:srgbClr val="FFFFFF"/>
        </a:accent3>
        <a:accent4>
          <a:srgbClr val="000000"/>
        </a:accent4>
        <a:accent5>
          <a:srgbClr val="CFE1B7"/>
        </a:accent5>
        <a:accent6>
          <a:srgbClr val="704EB4"/>
        </a:accent6>
        <a:hlink>
          <a:srgbClr val="4D97B5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66"/>
        </a:dk1>
        <a:lt1>
          <a:srgbClr val="FFFFFF"/>
        </a:lt1>
        <a:dk2>
          <a:srgbClr val="FFFFE7"/>
        </a:dk2>
        <a:lt2>
          <a:srgbClr val="B2B2B2"/>
        </a:lt2>
        <a:accent1>
          <a:srgbClr val="36A4D0"/>
        </a:accent1>
        <a:accent2>
          <a:srgbClr val="FF9966"/>
        </a:accent2>
        <a:accent3>
          <a:srgbClr val="FFFFFF"/>
        </a:accent3>
        <a:accent4>
          <a:srgbClr val="000056"/>
        </a:accent4>
        <a:accent5>
          <a:srgbClr val="AECFE4"/>
        </a:accent5>
        <a:accent6>
          <a:srgbClr val="E78A5C"/>
        </a:accent6>
        <a:hlink>
          <a:srgbClr val="3B5AB1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FFFFE7"/>
        </a:dk2>
        <a:lt2>
          <a:srgbClr val="B2B2B2"/>
        </a:lt2>
        <a:accent1>
          <a:srgbClr val="CCCC00"/>
        </a:accent1>
        <a:accent2>
          <a:srgbClr val="FF7C80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E77073"/>
        </a:accent6>
        <a:hlink>
          <a:srgbClr val="5A94A8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FFFFE7"/>
        </a:dk2>
        <a:lt2>
          <a:srgbClr val="B2B2B2"/>
        </a:lt2>
        <a:accent1>
          <a:srgbClr val="969696"/>
        </a:accent1>
        <a:accent2>
          <a:srgbClr val="FF7C80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E77073"/>
        </a:accent6>
        <a:hlink>
          <a:srgbClr val="5A94A8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4450</Words>
  <Application>WPS 演示</Application>
  <PresentationFormat>全屏显示(4:3)</PresentationFormat>
  <Paragraphs>601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60" baseType="lpstr">
      <vt:lpstr>Arial</vt:lpstr>
      <vt:lpstr>宋体</vt:lpstr>
      <vt:lpstr>Wingdings</vt:lpstr>
      <vt:lpstr>Calibri</vt:lpstr>
      <vt:lpstr>Franklin Gothic Medium</vt:lpstr>
      <vt:lpstr>Franklin Gothic Book</vt:lpstr>
      <vt:lpstr>Wingdings 2</vt:lpstr>
      <vt:lpstr>Wingdings</vt:lpstr>
      <vt:lpstr>黑体</vt:lpstr>
      <vt:lpstr>DFKai-SB</vt:lpstr>
      <vt:lpstr>MingLiU-ExtB</vt:lpstr>
      <vt:lpstr>Gulim</vt:lpstr>
      <vt:lpstr>Malgun Gothic</vt:lpstr>
      <vt:lpstr>华文中宋</vt:lpstr>
      <vt:lpstr>Times New Roman</vt:lpstr>
      <vt:lpstr>Wingdings 2</vt:lpstr>
      <vt:lpstr>Arial</vt:lpstr>
      <vt:lpstr>微软雅黑</vt:lpstr>
      <vt:lpstr>Arial Unicode MS</vt:lpstr>
      <vt:lpstr>1_Default Design</vt:lpstr>
      <vt:lpstr>Default Design</vt:lpstr>
      <vt:lpstr>暗香扑面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成都铁路卫生学校  李勇</dc:title>
  <dc:creator>Administrator</dc:creator>
  <cp:lastModifiedBy>纯欲阿尔卑斯</cp:lastModifiedBy>
  <cp:revision>94</cp:revision>
  <dcterms:created xsi:type="dcterms:W3CDTF">2015-04-25T07:33:54Z</dcterms:created>
  <dcterms:modified xsi:type="dcterms:W3CDTF">2025-06-10T08:39:53Z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598A2669FE954EED8757F7BAC2C3769F_13</vt:lpwstr>
  </property>
</Properties>
</file>